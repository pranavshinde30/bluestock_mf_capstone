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9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2756307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67940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265529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6F45583-B858-40FD-867B-F2ED4E913591}"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1272207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6F45583-B858-40FD-867B-F2ED4E913591}" type="datetimeFigureOut">
              <a:rPr lang="en-IN" smtClean="0"/>
              <a:t>19-07-2026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1513595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6F45583-B858-40FD-867B-F2ED4E913591}" type="datetimeFigureOut">
              <a:rPr lang="en-IN" smtClean="0"/>
              <a:t>19-07-2026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1272266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F45583-B858-40FD-867B-F2ED4E913591}" type="datetimeFigureOut">
              <a:rPr lang="en-IN" smtClean="0"/>
              <a:t>19-07-2026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2421486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6F45583-B858-40FD-867B-F2ED4E913591}"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380630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6F45583-B858-40FD-867B-F2ED4E913591}"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2388290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853774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9697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3136705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22717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597398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3606144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F45583-B858-40FD-867B-F2ED4E913591}"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7F5769-0D8B-4DB0-8BED-AE36C855D026}" type="slidenum">
              <a:rPr lang="en-IN" smtClean="0"/>
              <a:t>‹#›</a:t>
            </a:fld>
            <a:endParaRPr lang="en-IN"/>
          </a:p>
        </p:txBody>
      </p:sp>
    </p:spTree>
    <p:extLst>
      <p:ext uri="{BB962C8B-B14F-4D97-AF65-F5344CB8AC3E}">
        <p14:creationId xmlns:p14="http://schemas.microsoft.com/office/powerpoint/2010/main" val="274900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6F45583-B858-40FD-867B-F2ED4E913591}" type="datetimeFigureOut">
              <a:rPr lang="en-IN" smtClean="0"/>
              <a:t>19-07-2026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27F5769-0D8B-4DB0-8BED-AE36C855D026}" type="slidenum">
              <a:rPr lang="en-IN" smtClean="0"/>
              <a:t>‹#›</a:t>
            </a:fld>
            <a:endParaRPr lang="en-IN"/>
          </a:p>
        </p:txBody>
      </p:sp>
    </p:spTree>
    <p:extLst>
      <p:ext uri="{BB962C8B-B14F-4D97-AF65-F5344CB8AC3E}">
        <p14:creationId xmlns:p14="http://schemas.microsoft.com/office/powerpoint/2010/main" val="99398528"/>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34C95-5978-163C-B8D8-D05F543C2E8A}"/>
              </a:ext>
            </a:extLst>
          </p:cNvPr>
          <p:cNvSpPr>
            <a:spLocks noGrp="1"/>
          </p:cNvSpPr>
          <p:nvPr>
            <p:ph type="ctrTitle"/>
          </p:nvPr>
        </p:nvSpPr>
        <p:spPr>
          <a:xfrm>
            <a:off x="1683171" y="1338014"/>
            <a:ext cx="8825658" cy="861420"/>
          </a:xfrm>
        </p:spPr>
        <p:txBody>
          <a:bodyPr>
            <a:normAutofit/>
          </a:bodyPr>
          <a:lstStyle/>
          <a:p>
            <a:pPr algn="ctr"/>
            <a:r>
              <a:rPr lang="en-US" sz="3200" dirty="0"/>
              <a:t>Mutual Fund Analytics Capstone Project</a:t>
            </a:r>
            <a:endParaRPr lang="en-IN" sz="3200" dirty="0"/>
          </a:p>
        </p:txBody>
      </p:sp>
      <p:sp>
        <p:nvSpPr>
          <p:cNvPr id="3" name="Subtitle 2">
            <a:extLst>
              <a:ext uri="{FF2B5EF4-FFF2-40B4-BE49-F238E27FC236}">
                <a16:creationId xmlns:a16="http://schemas.microsoft.com/office/drawing/2014/main" id="{DD81FEFF-E9C0-F23C-28EC-50C65831ED06}"/>
              </a:ext>
            </a:extLst>
          </p:cNvPr>
          <p:cNvSpPr>
            <a:spLocks noGrp="1"/>
          </p:cNvSpPr>
          <p:nvPr>
            <p:ph type="subTitle" idx="1"/>
          </p:nvPr>
        </p:nvSpPr>
        <p:spPr>
          <a:xfrm>
            <a:off x="1176989" y="2882478"/>
            <a:ext cx="8825658" cy="3088663"/>
          </a:xfrm>
        </p:spPr>
        <p:txBody>
          <a:bodyPr>
            <a:normAutofit fontScale="25000" lnSpcReduction="20000"/>
          </a:bodyPr>
          <a:lstStyle/>
          <a:p>
            <a:pPr algn="l"/>
            <a:r>
              <a:rPr lang="en-US" sz="7200" dirty="0"/>
              <a:t>Bluestock Fintech</a:t>
            </a:r>
          </a:p>
          <a:p>
            <a:pPr algn="l"/>
            <a:endParaRPr lang="en-US" sz="5500" dirty="0"/>
          </a:p>
          <a:p>
            <a:pPr algn="l"/>
            <a:r>
              <a:rPr lang="en-US" sz="7200" dirty="0"/>
              <a:t>Data Analyst Internship Capstone Project</a:t>
            </a:r>
          </a:p>
          <a:p>
            <a:pPr algn="l"/>
            <a:endParaRPr lang="en-US" sz="7200" dirty="0"/>
          </a:p>
          <a:p>
            <a:pPr algn="l"/>
            <a:r>
              <a:rPr lang="en-US" sz="7200" dirty="0"/>
              <a:t>Prepared by:</a:t>
            </a:r>
          </a:p>
          <a:p>
            <a:pPr algn="l"/>
            <a:r>
              <a:rPr lang="en-US" sz="7200" dirty="0"/>
              <a:t>Pranav Shinde</a:t>
            </a:r>
          </a:p>
          <a:p>
            <a:pPr algn="l"/>
            <a:endParaRPr lang="en-US" sz="5500" dirty="0"/>
          </a:p>
          <a:p>
            <a:pPr algn="l"/>
            <a:r>
              <a:rPr lang="en-US" sz="7200" dirty="0"/>
              <a:t>B.Sc. Information Technology</a:t>
            </a:r>
          </a:p>
          <a:p>
            <a:pPr algn="l"/>
            <a:r>
              <a:rPr lang="en-US" sz="7200" dirty="0"/>
              <a:t>July 2026</a:t>
            </a:r>
            <a:endParaRPr lang="en-IN" sz="7200" dirty="0"/>
          </a:p>
          <a:p>
            <a:endParaRPr lang="en-IN" dirty="0"/>
          </a:p>
        </p:txBody>
      </p:sp>
    </p:spTree>
    <p:extLst>
      <p:ext uri="{BB962C8B-B14F-4D97-AF65-F5344CB8AC3E}">
        <p14:creationId xmlns:p14="http://schemas.microsoft.com/office/powerpoint/2010/main" val="1928337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830D-EAA2-CF54-C267-76E22038D936}"/>
              </a:ext>
            </a:extLst>
          </p:cNvPr>
          <p:cNvSpPr>
            <a:spLocks noGrp="1"/>
          </p:cNvSpPr>
          <p:nvPr>
            <p:ph type="title"/>
          </p:nvPr>
        </p:nvSpPr>
        <p:spPr>
          <a:xfrm>
            <a:off x="677334" y="609600"/>
            <a:ext cx="8596668" cy="690390"/>
          </a:xfrm>
        </p:spPr>
        <p:txBody>
          <a:bodyPr>
            <a:normAutofit/>
          </a:bodyPr>
          <a:lstStyle/>
          <a:p>
            <a:r>
              <a:rPr lang="en-IN" sz="3200" dirty="0"/>
              <a:t>Project Overview</a:t>
            </a:r>
          </a:p>
        </p:txBody>
      </p:sp>
      <p:sp>
        <p:nvSpPr>
          <p:cNvPr id="3" name="Content Placeholder 2">
            <a:extLst>
              <a:ext uri="{FF2B5EF4-FFF2-40B4-BE49-F238E27FC236}">
                <a16:creationId xmlns:a16="http://schemas.microsoft.com/office/drawing/2014/main" id="{0DD3C7C3-7045-C3EF-F9E9-66F2FE3EFA58}"/>
              </a:ext>
            </a:extLst>
          </p:cNvPr>
          <p:cNvSpPr>
            <a:spLocks noGrp="1"/>
          </p:cNvSpPr>
          <p:nvPr>
            <p:ph idx="1"/>
          </p:nvPr>
        </p:nvSpPr>
        <p:spPr>
          <a:xfrm>
            <a:off x="677334" y="1378392"/>
            <a:ext cx="8596668" cy="3880773"/>
          </a:xfrm>
        </p:spPr>
        <p:txBody>
          <a:bodyPr>
            <a:normAutofit fontScale="92500" lnSpcReduction="20000"/>
          </a:bodyPr>
          <a:lstStyle/>
          <a:p>
            <a:r>
              <a:rPr lang="en-IN" dirty="0"/>
              <a:t>The Mutual Fund Analytics Capstone Project was developed to </a:t>
            </a:r>
            <a:r>
              <a:rPr lang="en-IN" dirty="0" err="1"/>
              <a:t>analyze</a:t>
            </a:r>
            <a:r>
              <a:rPr lang="en-IN" dirty="0"/>
              <a:t> mutual fund performance, investor </a:t>
            </a:r>
            <a:r>
              <a:rPr lang="en-IN" dirty="0" err="1"/>
              <a:t>behavior</a:t>
            </a:r>
            <a:r>
              <a:rPr lang="en-IN" dirty="0"/>
              <a:t>, and portfolio risk using Python, SQL, SQLite, and Power BI. The project covers the complete analytics workflow from data ingestion and cleaning to advanced financial metrics and interactive dashboards, enabling data-driven investment analysis.</a:t>
            </a:r>
          </a:p>
          <a:p>
            <a:r>
              <a:rPr lang="en-IN" b="1" dirty="0"/>
              <a:t>Technology Stack</a:t>
            </a:r>
          </a:p>
          <a:p>
            <a:pPr>
              <a:buFont typeface="Wingdings" panose="05000000000000000000" pitchFamily="2" charset="2"/>
              <a:buChar char="v"/>
            </a:pPr>
            <a:r>
              <a:rPr lang="en-IN" dirty="0"/>
              <a:t>Python</a:t>
            </a:r>
          </a:p>
          <a:p>
            <a:pPr>
              <a:buFont typeface="Wingdings" panose="05000000000000000000" pitchFamily="2" charset="2"/>
              <a:buChar char="v"/>
            </a:pPr>
            <a:r>
              <a:rPr lang="en-IN" dirty="0"/>
              <a:t>Pandas &amp; NumPy </a:t>
            </a:r>
          </a:p>
          <a:p>
            <a:pPr>
              <a:buFont typeface="Wingdings" panose="05000000000000000000" pitchFamily="2" charset="2"/>
              <a:buChar char="v"/>
            </a:pPr>
            <a:r>
              <a:rPr lang="en-IN" dirty="0"/>
              <a:t>SQLite </a:t>
            </a:r>
          </a:p>
          <a:p>
            <a:pPr>
              <a:buFont typeface="Wingdings" panose="05000000000000000000" pitchFamily="2" charset="2"/>
              <a:buChar char="v"/>
            </a:pPr>
            <a:r>
              <a:rPr lang="en-IN" dirty="0"/>
              <a:t>SQL </a:t>
            </a:r>
          </a:p>
          <a:p>
            <a:pPr>
              <a:buFont typeface="Wingdings" panose="05000000000000000000" pitchFamily="2" charset="2"/>
              <a:buChar char="v"/>
            </a:pPr>
            <a:r>
              <a:rPr lang="en-IN" dirty="0"/>
              <a:t>Jupyter Notebook</a:t>
            </a:r>
          </a:p>
          <a:p>
            <a:pPr>
              <a:buFont typeface="Wingdings" panose="05000000000000000000" pitchFamily="2" charset="2"/>
              <a:buChar char="v"/>
            </a:pPr>
            <a:r>
              <a:rPr lang="en-IN" dirty="0"/>
              <a:t>Power BI</a:t>
            </a:r>
          </a:p>
          <a:p>
            <a:pPr>
              <a:buFont typeface="Wingdings" panose="05000000000000000000" pitchFamily="2" charset="2"/>
              <a:buChar char="v"/>
            </a:pPr>
            <a:r>
              <a:rPr lang="en-IN" dirty="0"/>
              <a:t>Git &amp; GitHub</a:t>
            </a:r>
          </a:p>
        </p:txBody>
      </p:sp>
    </p:spTree>
    <p:extLst>
      <p:ext uri="{BB962C8B-B14F-4D97-AF65-F5344CB8AC3E}">
        <p14:creationId xmlns:p14="http://schemas.microsoft.com/office/powerpoint/2010/main" val="3723050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56F0A-49C8-C835-088F-D25C8173A4A7}"/>
              </a:ext>
            </a:extLst>
          </p:cNvPr>
          <p:cNvSpPr>
            <a:spLocks noGrp="1"/>
          </p:cNvSpPr>
          <p:nvPr>
            <p:ph type="title"/>
          </p:nvPr>
        </p:nvSpPr>
        <p:spPr>
          <a:xfrm>
            <a:off x="677334" y="609600"/>
            <a:ext cx="8596668" cy="778525"/>
          </a:xfrm>
        </p:spPr>
        <p:txBody>
          <a:bodyPr>
            <a:normAutofit/>
          </a:bodyPr>
          <a:lstStyle/>
          <a:p>
            <a:r>
              <a:rPr lang="en-IN" sz="2800" dirty="0"/>
              <a:t>Project Objectives</a:t>
            </a:r>
          </a:p>
        </p:txBody>
      </p:sp>
      <p:sp>
        <p:nvSpPr>
          <p:cNvPr id="3" name="Content Placeholder 2">
            <a:extLst>
              <a:ext uri="{FF2B5EF4-FFF2-40B4-BE49-F238E27FC236}">
                <a16:creationId xmlns:a16="http://schemas.microsoft.com/office/drawing/2014/main" id="{8260490D-83BF-1B4E-83AE-2755A1D1AB64}"/>
              </a:ext>
            </a:extLst>
          </p:cNvPr>
          <p:cNvSpPr>
            <a:spLocks noGrp="1"/>
          </p:cNvSpPr>
          <p:nvPr>
            <p:ph idx="1"/>
          </p:nvPr>
        </p:nvSpPr>
        <p:spPr>
          <a:xfrm>
            <a:off x="677334" y="1741948"/>
            <a:ext cx="8596668" cy="3248693"/>
          </a:xfrm>
        </p:spPr>
        <p:txBody>
          <a:bodyPr/>
          <a:lstStyle/>
          <a:p>
            <a:pPr>
              <a:buFont typeface="Wingdings" panose="05000000000000000000" pitchFamily="2" charset="2"/>
              <a:buChar char="v"/>
            </a:pPr>
            <a:r>
              <a:rPr lang="en-IN" dirty="0" err="1"/>
              <a:t>Analyze</a:t>
            </a:r>
            <a:r>
              <a:rPr lang="en-IN" dirty="0"/>
              <a:t> mutual fund performance using historical NAV data. </a:t>
            </a:r>
          </a:p>
          <a:p>
            <a:pPr>
              <a:buFont typeface="Wingdings" panose="05000000000000000000" pitchFamily="2" charset="2"/>
              <a:buChar char="v"/>
            </a:pPr>
            <a:r>
              <a:rPr lang="en-IN" dirty="0"/>
              <a:t>Build a robust ETL pipeline for data ingestion, cleaning, and processing. </a:t>
            </a:r>
          </a:p>
          <a:p>
            <a:pPr>
              <a:buFont typeface="Wingdings" panose="05000000000000000000" pitchFamily="2" charset="2"/>
              <a:buChar char="v"/>
            </a:pPr>
            <a:r>
              <a:rPr lang="en-IN" dirty="0"/>
              <a:t>Store cleaned data efficiently in a SQLite database. </a:t>
            </a:r>
          </a:p>
          <a:p>
            <a:pPr>
              <a:buFont typeface="Wingdings" panose="05000000000000000000" pitchFamily="2" charset="2"/>
              <a:buChar char="v"/>
            </a:pPr>
            <a:r>
              <a:rPr lang="en-IN" dirty="0"/>
              <a:t>Perform Exploratory Data Analysis (EDA) to identify investment trends. </a:t>
            </a:r>
          </a:p>
          <a:p>
            <a:pPr>
              <a:buFont typeface="Wingdings" panose="05000000000000000000" pitchFamily="2" charset="2"/>
              <a:buChar char="v"/>
            </a:pPr>
            <a:r>
              <a:rPr lang="en-IN" dirty="0"/>
              <a:t>Calculate key financial performance metrics such as CAGR, Sharpe Ratio, Alpha, Beta, Sortino Ratio, Maximum Drawdown, </a:t>
            </a:r>
            <a:r>
              <a:rPr lang="en-IN" dirty="0" err="1"/>
              <a:t>VaR</a:t>
            </a:r>
            <a:r>
              <a:rPr lang="en-IN" dirty="0"/>
              <a:t>, and CVaR. </a:t>
            </a:r>
          </a:p>
          <a:p>
            <a:pPr>
              <a:buFont typeface="Wingdings" panose="05000000000000000000" pitchFamily="2" charset="2"/>
              <a:buChar char="v"/>
            </a:pPr>
            <a:r>
              <a:rPr lang="en-IN" dirty="0"/>
              <a:t>Develop an interactive Power BI dashboard for visualization. </a:t>
            </a:r>
          </a:p>
          <a:p>
            <a:pPr>
              <a:buFont typeface="Wingdings" panose="05000000000000000000" pitchFamily="2" charset="2"/>
              <a:buChar char="v"/>
            </a:pPr>
            <a:r>
              <a:rPr lang="en-IN" dirty="0"/>
              <a:t>Build a rule-based mutual fund recommendation system. </a:t>
            </a:r>
          </a:p>
          <a:p>
            <a:pPr marL="0" indent="0">
              <a:buNone/>
            </a:pPr>
            <a:endParaRPr lang="en-IN" dirty="0"/>
          </a:p>
        </p:txBody>
      </p:sp>
    </p:spTree>
    <p:extLst>
      <p:ext uri="{BB962C8B-B14F-4D97-AF65-F5344CB8AC3E}">
        <p14:creationId xmlns:p14="http://schemas.microsoft.com/office/powerpoint/2010/main" val="2764431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2205-B564-7DEB-8CBF-A2AA685949A0}"/>
              </a:ext>
            </a:extLst>
          </p:cNvPr>
          <p:cNvSpPr>
            <a:spLocks noGrp="1"/>
          </p:cNvSpPr>
          <p:nvPr>
            <p:ph type="title"/>
          </p:nvPr>
        </p:nvSpPr>
        <p:spPr>
          <a:xfrm>
            <a:off x="677334" y="609600"/>
            <a:ext cx="8596668" cy="701407"/>
          </a:xfrm>
        </p:spPr>
        <p:txBody>
          <a:bodyPr>
            <a:normAutofit/>
          </a:bodyPr>
          <a:lstStyle/>
          <a:p>
            <a:r>
              <a:rPr lang="en-IN" sz="2800" dirty="0"/>
              <a:t>Dataset Overview</a:t>
            </a:r>
          </a:p>
        </p:txBody>
      </p:sp>
      <p:sp>
        <p:nvSpPr>
          <p:cNvPr id="3" name="Content Placeholder 2">
            <a:extLst>
              <a:ext uri="{FF2B5EF4-FFF2-40B4-BE49-F238E27FC236}">
                <a16:creationId xmlns:a16="http://schemas.microsoft.com/office/drawing/2014/main" id="{12C67793-FCFB-AA64-F79E-1B96F1D35AF9}"/>
              </a:ext>
            </a:extLst>
          </p:cNvPr>
          <p:cNvSpPr>
            <a:spLocks noGrp="1"/>
          </p:cNvSpPr>
          <p:nvPr>
            <p:ph idx="1"/>
          </p:nvPr>
        </p:nvSpPr>
        <p:spPr>
          <a:xfrm>
            <a:off x="677334" y="1200839"/>
            <a:ext cx="8596668" cy="957184"/>
          </a:xfrm>
        </p:spPr>
        <p:txBody>
          <a:bodyPr/>
          <a:lstStyle/>
          <a:p>
            <a:pPr marL="0" indent="0">
              <a:buNone/>
            </a:pPr>
            <a:r>
              <a:rPr lang="en-IN" dirty="0"/>
              <a:t>The project uses ten primary datasets covering mutual fund schemes, NAV history, investor transactions, portfolio holdings, SIP inflows, benchmark indices, and industry statistics.</a:t>
            </a:r>
          </a:p>
          <a:p>
            <a:pPr marL="0" indent="0">
              <a:buNone/>
            </a:pPr>
            <a:endParaRPr lang="en-IN" dirty="0"/>
          </a:p>
        </p:txBody>
      </p:sp>
      <p:graphicFrame>
        <p:nvGraphicFramePr>
          <p:cNvPr id="6" name="Table 5">
            <a:extLst>
              <a:ext uri="{FF2B5EF4-FFF2-40B4-BE49-F238E27FC236}">
                <a16:creationId xmlns:a16="http://schemas.microsoft.com/office/drawing/2014/main" id="{C5ECA403-1203-3E27-FC88-28A3FB6DB28B}"/>
              </a:ext>
            </a:extLst>
          </p:cNvPr>
          <p:cNvGraphicFramePr>
            <a:graphicFrameLocks noGrp="1"/>
          </p:cNvGraphicFramePr>
          <p:nvPr>
            <p:extLst>
              <p:ext uri="{D42A27DB-BD31-4B8C-83A1-F6EECF244321}">
                <p14:modId xmlns:p14="http://schemas.microsoft.com/office/powerpoint/2010/main" val="78055739"/>
              </p:ext>
            </p:extLst>
          </p:nvPr>
        </p:nvGraphicFramePr>
        <p:xfrm>
          <a:off x="677334" y="2346929"/>
          <a:ext cx="10736142" cy="4246638"/>
        </p:xfrm>
        <a:graphic>
          <a:graphicData uri="http://schemas.openxmlformats.org/drawingml/2006/table">
            <a:tbl>
              <a:tblPr firstRow="1" bandRow="1">
                <a:tableStyleId>{5C22544A-7EE6-4342-B048-85BDC9FD1C3A}</a:tableStyleId>
              </a:tblPr>
              <a:tblGrid>
                <a:gridCol w="3578714">
                  <a:extLst>
                    <a:ext uri="{9D8B030D-6E8A-4147-A177-3AD203B41FA5}">
                      <a16:colId xmlns:a16="http://schemas.microsoft.com/office/drawing/2014/main" val="1944623596"/>
                    </a:ext>
                  </a:extLst>
                </a:gridCol>
                <a:gridCol w="3578714">
                  <a:extLst>
                    <a:ext uri="{9D8B030D-6E8A-4147-A177-3AD203B41FA5}">
                      <a16:colId xmlns:a16="http://schemas.microsoft.com/office/drawing/2014/main" val="834842537"/>
                    </a:ext>
                  </a:extLst>
                </a:gridCol>
                <a:gridCol w="3578714">
                  <a:extLst>
                    <a:ext uri="{9D8B030D-6E8A-4147-A177-3AD203B41FA5}">
                      <a16:colId xmlns:a16="http://schemas.microsoft.com/office/drawing/2014/main" val="234803730"/>
                    </a:ext>
                  </a:extLst>
                </a:gridCol>
              </a:tblGrid>
              <a:tr h="165837">
                <a:tc>
                  <a:txBody>
                    <a:bodyPr/>
                    <a:lstStyle/>
                    <a:p>
                      <a:pPr>
                        <a:buNone/>
                      </a:pPr>
                      <a:r>
                        <a:rPr lang="en-IN" b="1" dirty="0"/>
                        <a:t>Dataset</a:t>
                      </a:r>
                    </a:p>
                  </a:txBody>
                  <a:tcPr anchor="ctr"/>
                </a:tc>
                <a:tc>
                  <a:txBody>
                    <a:bodyPr/>
                    <a:lstStyle/>
                    <a:p>
                      <a:pPr algn="r">
                        <a:buNone/>
                      </a:pPr>
                      <a:r>
                        <a:rPr lang="en-IN" b="1"/>
                        <a:t>Records</a:t>
                      </a:r>
                    </a:p>
                  </a:txBody>
                  <a:tcPr anchor="ctr"/>
                </a:tc>
                <a:tc>
                  <a:txBody>
                    <a:bodyPr/>
                    <a:lstStyle/>
                    <a:p>
                      <a:pPr>
                        <a:buNone/>
                      </a:pPr>
                      <a:r>
                        <a:rPr lang="en-IN" b="1" dirty="0"/>
                        <a:t>Purpose</a:t>
                      </a:r>
                    </a:p>
                  </a:txBody>
                  <a:tcPr anchor="ctr"/>
                </a:tc>
                <a:extLst>
                  <a:ext uri="{0D108BD9-81ED-4DB2-BD59-A6C34878D82A}">
                    <a16:rowId xmlns:a16="http://schemas.microsoft.com/office/drawing/2014/main" val="1995072330"/>
                  </a:ext>
                </a:extLst>
              </a:tr>
              <a:tr h="543093">
                <a:tc>
                  <a:txBody>
                    <a:bodyPr/>
                    <a:lstStyle/>
                    <a:p>
                      <a:pPr>
                        <a:buNone/>
                      </a:pPr>
                      <a:r>
                        <a:rPr lang="en-IN" sz="1600" dirty="0"/>
                        <a:t>Fund Master</a:t>
                      </a:r>
                    </a:p>
                  </a:txBody>
                  <a:tcPr anchor="ctr"/>
                </a:tc>
                <a:tc>
                  <a:txBody>
                    <a:bodyPr/>
                    <a:lstStyle/>
                    <a:p>
                      <a:pPr algn="r">
                        <a:buNone/>
                      </a:pPr>
                      <a:r>
                        <a:rPr lang="en-IN" sz="1600"/>
                        <a:t>40</a:t>
                      </a:r>
                    </a:p>
                  </a:txBody>
                  <a:tcPr anchor="ctr"/>
                </a:tc>
                <a:tc>
                  <a:txBody>
                    <a:bodyPr/>
                    <a:lstStyle/>
                    <a:p>
                      <a:pPr>
                        <a:buNone/>
                      </a:pPr>
                      <a:r>
                        <a:rPr lang="en-IN" sz="1600" dirty="0"/>
                        <a:t>Mutual fund scheme information</a:t>
                      </a:r>
                    </a:p>
                  </a:txBody>
                  <a:tcPr anchor="ctr"/>
                </a:tc>
                <a:extLst>
                  <a:ext uri="{0D108BD9-81ED-4DB2-BD59-A6C34878D82A}">
                    <a16:rowId xmlns:a16="http://schemas.microsoft.com/office/drawing/2014/main" val="232496003"/>
                  </a:ext>
                </a:extLst>
              </a:tr>
              <a:tr h="310339">
                <a:tc>
                  <a:txBody>
                    <a:bodyPr/>
                    <a:lstStyle/>
                    <a:p>
                      <a:pPr>
                        <a:buNone/>
                      </a:pPr>
                      <a:r>
                        <a:rPr lang="en-IN" sz="1600"/>
                        <a:t>NAV History</a:t>
                      </a:r>
                    </a:p>
                  </a:txBody>
                  <a:tcPr anchor="ctr"/>
                </a:tc>
                <a:tc>
                  <a:txBody>
                    <a:bodyPr/>
                    <a:lstStyle/>
                    <a:p>
                      <a:pPr algn="r">
                        <a:buNone/>
                      </a:pPr>
                      <a:r>
                        <a:rPr lang="en-IN" sz="1600"/>
                        <a:t>46,000</a:t>
                      </a:r>
                    </a:p>
                  </a:txBody>
                  <a:tcPr anchor="ctr"/>
                </a:tc>
                <a:tc>
                  <a:txBody>
                    <a:bodyPr/>
                    <a:lstStyle/>
                    <a:p>
                      <a:pPr>
                        <a:buNone/>
                      </a:pPr>
                      <a:r>
                        <a:rPr lang="en-IN" sz="1600"/>
                        <a:t>Historical NAV prices</a:t>
                      </a:r>
                    </a:p>
                  </a:txBody>
                  <a:tcPr anchor="ctr"/>
                </a:tc>
                <a:extLst>
                  <a:ext uri="{0D108BD9-81ED-4DB2-BD59-A6C34878D82A}">
                    <a16:rowId xmlns:a16="http://schemas.microsoft.com/office/drawing/2014/main" val="1843791821"/>
                  </a:ext>
                </a:extLst>
              </a:tr>
              <a:tr h="372764">
                <a:tc>
                  <a:txBody>
                    <a:bodyPr/>
                    <a:lstStyle/>
                    <a:p>
                      <a:pPr>
                        <a:buNone/>
                      </a:pPr>
                      <a:r>
                        <a:rPr lang="en-IN" sz="1600"/>
                        <a:t>AUM by Fund House</a:t>
                      </a:r>
                    </a:p>
                  </a:txBody>
                  <a:tcPr anchor="ctr"/>
                </a:tc>
                <a:tc>
                  <a:txBody>
                    <a:bodyPr/>
                    <a:lstStyle/>
                    <a:p>
                      <a:pPr algn="r">
                        <a:buNone/>
                      </a:pPr>
                      <a:r>
                        <a:rPr lang="en-IN" sz="1600" dirty="0"/>
                        <a:t>90</a:t>
                      </a:r>
                    </a:p>
                  </a:txBody>
                  <a:tcPr anchor="ctr"/>
                </a:tc>
                <a:tc>
                  <a:txBody>
                    <a:bodyPr/>
                    <a:lstStyle/>
                    <a:p>
                      <a:pPr>
                        <a:buNone/>
                      </a:pPr>
                      <a:r>
                        <a:rPr lang="en-IN" sz="1600"/>
                        <a:t>Assets under Management</a:t>
                      </a:r>
                    </a:p>
                  </a:txBody>
                  <a:tcPr anchor="ctr"/>
                </a:tc>
                <a:extLst>
                  <a:ext uri="{0D108BD9-81ED-4DB2-BD59-A6C34878D82A}">
                    <a16:rowId xmlns:a16="http://schemas.microsoft.com/office/drawing/2014/main" val="2661528747"/>
                  </a:ext>
                </a:extLst>
              </a:tr>
              <a:tr h="310339">
                <a:tc>
                  <a:txBody>
                    <a:bodyPr/>
                    <a:lstStyle/>
                    <a:p>
                      <a:pPr>
                        <a:buNone/>
                      </a:pPr>
                      <a:r>
                        <a:rPr lang="en-IN" sz="1600"/>
                        <a:t>Monthly SIP Inflows</a:t>
                      </a:r>
                    </a:p>
                  </a:txBody>
                  <a:tcPr anchor="ctr"/>
                </a:tc>
                <a:tc>
                  <a:txBody>
                    <a:bodyPr/>
                    <a:lstStyle/>
                    <a:p>
                      <a:pPr algn="r">
                        <a:buNone/>
                      </a:pPr>
                      <a:r>
                        <a:rPr lang="en-IN" sz="1600" dirty="0"/>
                        <a:t>48</a:t>
                      </a:r>
                    </a:p>
                  </a:txBody>
                  <a:tcPr anchor="ctr"/>
                </a:tc>
                <a:tc>
                  <a:txBody>
                    <a:bodyPr/>
                    <a:lstStyle/>
                    <a:p>
                      <a:pPr>
                        <a:buNone/>
                      </a:pPr>
                      <a:r>
                        <a:rPr lang="en-IN" sz="1600"/>
                        <a:t>SIP market trends</a:t>
                      </a:r>
                    </a:p>
                  </a:txBody>
                  <a:tcPr anchor="ctr"/>
                </a:tc>
                <a:extLst>
                  <a:ext uri="{0D108BD9-81ED-4DB2-BD59-A6C34878D82A}">
                    <a16:rowId xmlns:a16="http://schemas.microsoft.com/office/drawing/2014/main" val="4272913378"/>
                  </a:ext>
                </a:extLst>
              </a:tr>
              <a:tr h="372764">
                <a:tc>
                  <a:txBody>
                    <a:bodyPr/>
                    <a:lstStyle/>
                    <a:p>
                      <a:pPr>
                        <a:buNone/>
                      </a:pPr>
                      <a:r>
                        <a:rPr lang="en-IN" sz="1600"/>
                        <a:t>Category Inflows</a:t>
                      </a:r>
                    </a:p>
                  </a:txBody>
                  <a:tcPr anchor="ctr"/>
                </a:tc>
                <a:tc>
                  <a:txBody>
                    <a:bodyPr/>
                    <a:lstStyle/>
                    <a:p>
                      <a:pPr algn="r">
                        <a:buNone/>
                      </a:pPr>
                      <a:r>
                        <a:rPr lang="en-IN" sz="1600" dirty="0"/>
                        <a:t>144</a:t>
                      </a:r>
                    </a:p>
                  </a:txBody>
                  <a:tcPr anchor="ctr"/>
                </a:tc>
                <a:tc>
                  <a:txBody>
                    <a:bodyPr/>
                    <a:lstStyle/>
                    <a:p>
                      <a:pPr>
                        <a:buNone/>
                      </a:pPr>
                      <a:r>
                        <a:rPr lang="en-IN" sz="1600"/>
                        <a:t>Category-wise fund inflows</a:t>
                      </a:r>
                    </a:p>
                  </a:txBody>
                  <a:tcPr anchor="ctr"/>
                </a:tc>
                <a:extLst>
                  <a:ext uri="{0D108BD9-81ED-4DB2-BD59-A6C34878D82A}">
                    <a16:rowId xmlns:a16="http://schemas.microsoft.com/office/drawing/2014/main" val="1402938500"/>
                  </a:ext>
                </a:extLst>
              </a:tr>
              <a:tr h="310339">
                <a:tc>
                  <a:txBody>
                    <a:bodyPr/>
                    <a:lstStyle/>
                    <a:p>
                      <a:pPr>
                        <a:buNone/>
                      </a:pPr>
                      <a:r>
                        <a:rPr lang="en-IN" sz="1600"/>
                        <a:t>Industry Folio Count</a:t>
                      </a:r>
                    </a:p>
                  </a:txBody>
                  <a:tcPr anchor="ctr"/>
                </a:tc>
                <a:tc>
                  <a:txBody>
                    <a:bodyPr/>
                    <a:lstStyle/>
                    <a:p>
                      <a:pPr algn="r">
                        <a:buNone/>
                      </a:pPr>
                      <a:r>
                        <a:rPr lang="en-IN" sz="1600"/>
                        <a:t>21</a:t>
                      </a:r>
                    </a:p>
                  </a:txBody>
                  <a:tcPr anchor="ctr"/>
                </a:tc>
                <a:tc>
                  <a:txBody>
                    <a:bodyPr/>
                    <a:lstStyle/>
                    <a:p>
                      <a:pPr>
                        <a:buNone/>
                      </a:pPr>
                      <a:r>
                        <a:rPr lang="en-IN" sz="1600"/>
                        <a:t>Industry folio statistics</a:t>
                      </a:r>
                    </a:p>
                  </a:txBody>
                  <a:tcPr anchor="ctr"/>
                </a:tc>
                <a:extLst>
                  <a:ext uri="{0D108BD9-81ED-4DB2-BD59-A6C34878D82A}">
                    <a16:rowId xmlns:a16="http://schemas.microsoft.com/office/drawing/2014/main" val="3515351749"/>
                  </a:ext>
                </a:extLst>
              </a:tr>
              <a:tr h="310339">
                <a:tc>
                  <a:txBody>
                    <a:bodyPr/>
                    <a:lstStyle/>
                    <a:p>
                      <a:pPr>
                        <a:buNone/>
                      </a:pPr>
                      <a:r>
                        <a:rPr lang="en-IN" sz="1600"/>
                        <a:t>Scheme Performance</a:t>
                      </a:r>
                    </a:p>
                  </a:txBody>
                  <a:tcPr anchor="ctr"/>
                </a:tc>
                <a:tc>
                  <a:txBody>
                    <a:bodyPr/>
                    <a:lstStyle/>
                    <a:p>
                      <a:pPr algn="r">
                        <a:buNone/>
                      </a:pPr>
                      <a:r>
                        <a:rPr lang="en-IN" sz="1600" dirty="0"/>
                        <a:t>40</a:t>
                      </a:r>
                    </a:p>
                  </a:txBody>
                  <a:tcPr anchor="ctr"/>
                </a:tc>
                <a:tc>
                  <a:txBody>
                    <a:bodyPr/>
                    <a:lstStyle/>
                    <a:p>
                      <a:pPr>
                        <a:buNone/>
                      </a:pPr>
                      <a:r>
                        <a:rPr lang="en-IN" sz="1600" dirty="0"/>
                        <a:t>Performance metrics</a:t>
                      </a:r>
                    </a:p>
                  </a:txBody>
                  <a:tcPr anchor="ctr"/>
                </a:tc>
                <a:extLst>
                  <a:ext uri="{0D108BD9-81ED-4DB2-BD59-A6C34878D82A}">
                    <a16:rowId xmlns:a16="http://schemas.microsoft.com/office/drawing/2014/main" val="3121499859"/>
                  </a:ext>
                </a:extLst>
              </a:tr>
              <a:tr h="372764">
                <a:tc>
                  <a:txBody>
                    <a:bodyPr/>
                    <a:lstStyle/>
                    <a:p>
                      <a:pPr>
                        <a:buNone/>
                      </a:pPr>
                      <a:r>
                        <a:rPr lang="en-IN" sz="1600"/>
                        <a:t>Investor Transactions</a:t>
                      </a:r>
                    </a:p>
                  </a:txBody>
                  <a:tcPr anchor="ctr"/>
                </a:tc>
                <a:tc>
                  <a:txBody>
                    <a:bodyPr/>
                    <a:lstStyle/>
                    <a:p>
                      <a:pPr algn="r">
                        <a:buNone/>
                      </a:pPr>
                      <a:r>
                        <a:rPr lang="en-IN" sz="1600"/>
                        <a:t>32,778</a:t>
                      </a:r>
                    </a:p>
                  </a:txBody>
                  <a:tcPr anchor="ctr"/>
                </a:tc>
                <a:tc>
                  <a:txBody>
                    <a:bodyPr/>
                    <a:lstStyle/>
                    <a:p>
                      <a:pPr>
                        <a:buNone/>
                      </a:pPr>
                      <a:r>
                        <a:rPr lang="en-IN" sz="1600" dirty="0"/>
                        <a:t>Investor behaviour analysis</a:t>
                      </a:r>
                    </a:p>
                  </a:txBody>
                  <a:tcPr anchor="ctr"/>
                </a:tc>
                <a:extLst>
                  <a:ext uri="{0D108BD9-81ED-4DB2-BD59-A6C34878D82A}">
                    <a16:rowId xmlns:a16="http://schemas.microsoft.com/office/drawing/2014/main" val="1749165482"/>
                  </a:ext>
                </a:extLst>
              </a:tr>
              <a:tr h="310339">
                <a:tc>
                  <a:txBody>
                    <a:bodyPr/>
                    <a:lstStyle/>
                    <a:p>
                      <a:pPr>
                        <a:buNone/>
                      </a:pPr>
                      <a:r>
                        <a:rPr lang="en-IN" sz="1600"/>
                        <a:t>Portfolio Holdings</a:t>
                      </a:r>
                    </a:p>
                  </a:txBody>
                  <a:tcPr anchor="ctr"/>
                </a:tc>
                <a:tc>
                  <a:txBody>
                    <a:bodyPr/>
                    <a:lstStyle/>
                    <a:p>
                      <a:pPr algn="r">
                        <a:buNone/>
                      </a:pPr>
                      <a:r>
                        <a:rPr lang="en-IN" sz="1600"/>
                        <a:t>322</a:t>
                      </a:r>
                    </a:p>
                  </a:txBody>
                  <a:tcPr anchor="ctr"/>
                </a:tc>
                <a:tc>
                  <a:txBody>
                    <a:bodyPr/>
                    <a:lstStyle/>
                    <a:p>
                      <a:pPr>
                        <a:buNone/>
                      </a:pPr>
                      <a:r>
                        <a:rPr lang="en-IN" sz="1600" dirty="0"/>
                        <a:t>Portfolio composition</a:t>
                      </a:r>
                    </a:p>
                  </a:txBody>
                  <a:tcPr anchor="ctr"/>
                </a:tc>
                <a:extLst>
                  <a:ext uri="{0D108BD9-81ED-4DB2-BD59-A6C34878D82A}">
                    <a16:rowId xmlns:a16="http://schemas.microsoft.com/office/drawing/2014/main" val="2495808850"/>
                  </a:ext>
                </a:extLst>
              </a:tr>
              <a:tr h="543093">
                <a:tc>
                  <a:txBody>
                    <a:bodyPr/>
                    <a:lstStyle/>
                    <a:p>
                      <a:pPr>
                        <a:buNone/>
                      </a:pPr>
                      <a:r>
                        <a:rPr lang="en-IN" sz="1600"/>
                        <a:t>Benchmark Indices</a:t>
                      </a:r>
                    </a:p>
                  </a:txBody>
                  <a:tcPr anchor="ctr"/>
                </a:tc>
                <a:tc>
                  <a:txBody>
                    <a:bodyPr/>
                    <a:lstStyle/>
                    <a:p>
                      <a:pPr algn="r">
                        <a:buNone/>
                      </a:pPr>
                      <a:r>
                        <a:rPr lang="en-IN" sz="1600"/>
                        <a:t>8,050</a:t>
                      </a:r>
                    </a:p>
                  </a:txBody>
                  <a:tcPr anchor="ctr"/>
                </a:tc>
                <a:tc>
                  <a:txBody>
                    <a:bodyPr/>
                    <a:lstStyle/>
                    <a:p>
                      <a:pPr>
                        <a:buNone/>
                      </a:pPr>
                      <a:r>
                        <a:rPr lang="en-IN" sz="1600" dirty="0"/>
                        <a:t>Market benchmark comparison</a:t>
                      </a:r>
                    </a:p>
                  </a:txBody>
                  <a:tcPr anchor="ctr"/>
                </a:tc>
                <a:extLst>
                  <a:ext uri="{0D108BD9-81ED-4DB2-BD59-A6C34878D82A}">
                    <a16:rowId xmlns:a16="http://schemas.microsoft.com/office/drawing/2014/main" val="2600263064"/>
                  </a:ext>
                </a:extLst>
              </a:tr>
            </a:tbl>
          </a:graphicData>
        </a:graphic>
      </p:graphicFrame>
    </p:spTree>
    <p:extLst>
      <p:ext uri="{BB962C8B-B14F-4D97-AF65-F5344CB8AC3E}">
        <p14:creationId xmlns:p14="http://schemas.microsoft.com/office/powerpoint/2010/main" val="2705063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C3CBF-F441-2707-9648-D1933B8B92C3}"/>
              </a:ext>
            </a:extLst>
          </p:cNvPr>
          <p:cNvSpPr>
            <a:spLocks noGrp="1"/>
          </p:cNvSpPr>
          <p:nvPr>
            <p:ph type="title"/>
          </p:nvPr>
        </p:nvSpPr>
        <p:spPr>
          <a:xfrm>
            <a:off x="677334" y="609600"/>
            <a:ext cx="4103984" cy="525137"/>
          </a:xfrm>
        </p:spPr>
        <p:txBody>
          <a:bodyPr>
            <a:normAutofit/>
          </a:bodyPr>
          <a:lstStyle/>
          <a:p>
            <a:r>
              <a:rPr lang="en-IN" sz="2800" dirty="0"/>
              <a:t>ETL Pipeline</a:t>
            </a:r>
          </a:p>
        </p:txBody>
      </p:sp>
      <p:sp>
        <p:nvSpPr>
          <p:cNvPr id="3" name="Content Placeholder 2">
            <a:extLst>
              <a:ext uri="{FF2B5EF4-FFF2-40B4-BE49-F238E27FC236}">
                <a16:creationId xmlns:a16="http://schemas.microsoft.com/office/drawing/2014/main" id="{947C4E72-1A27-CFCB-77CB-42B16A6E427E}"/>
              </a:ext>
            </a:extLst>
          </p:cNvPr>
          <p:cNvSpPr>
            <a:spLocks noGrp="1"/>
          </p:cNvSpPr>
          <p:nvPr>
            <p:ph idx="1"/>
          </p:nvPr>
        </p:nvSpPr>
        <p:spPr>
          <a:xfrm>
            <a:off x="677334" y="1180088"/>
            <a:ext cx="4103985" cy="2135990"/>
          </a:xfrm>
        </p:spPr>
        <p:txBody>
          <a:bodyPr>
            <a:normAutofit/>
          </a:bodyPr>
          <a:lstStyle/>
          <a:p>
            <a:pPr marL="0" indent="0">
              <a:buNone/>
            </a:pPr>
            <a:r>
              <a:rPr lang="en-IN" dirty="0"/>
              <a:t>The ETL (Extract, Transform, Load) pipeline automates the complete data processing workflow. Raw mutual fund datasets are validated, cleaned, transformed, and finally loaded into a SQLite database for analysis and dashboard development.</a:t>
            </a:r>
          </a:p>
        </p:txBody>
      </p:sp>
      <p:sp>
        <p:nvSpPr>
          <p:cNvPr id="4" name="Flowchart: Process 3">
            <a:extLst>
              <a:ext uri="{FF2B5EF4-FFF2-40B4-BE49-F238E27FC236}">
                <a16:creationId xmlns:a16="http://schemas.microsoft.com/office/drawing/2014/main" id="{E3D54C88-5BE5-FE69-83F6-3F853731D3AD}"/>
              </a:ext>
            </a:extLst>
          </p:cNvPr>
          <p:cNvSpPr/>
          <p:nvPr/>
        </p:nvSpPr>
        <p:spPr>
          <a:xfrm>
            <a:off x="6418344" y="1221032"/>
            <a:ext cx="1729648" cy="484743"/>
          </a:xfrm>
          <a:prstGeom prst="flowChartProces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RAW CSV</a:t>
            </a:r>
          </a:p>
        </p:txBody>
      </p:sp>
      <p:sp>
        <p:nvSpPr>
          <p:cNvPr id="5" name="TextBox 4">
            <a:extLst>
              <a:ext uri="{FF2B5EF4-FFF2-40B4-BE49-F238E27FC236}">
                <a16:creationId xmlns:a16="http://schemas.microsoft.com/office/drawing/2014/main" id="{11879571-41DD-382A-D484-EEF6B923A8B2}"/>
              </a:ext>
            </a:extLst>
          </p:cNvPr>
          <p:cNvSpPr txBox="1"/>
          <p:nvPr/>
        </p:nvSpPr>
        <p:spPr>
          <a:xfrm>
            <a:off x="677333" y="3541923"/>
            <a:ext cx="4103985" cy="2308324"/>
          </a:xfrm>
          <a:prstGeom prst="rect">
            <a:avLst/>
          </a:prstGeom>
          <a:noFill/>
        </p:spPr>
        <p:txBody>
          <a:bodyPr wrap="square" rtlCol="0">
            <a:spAutoFit/>
          </a:bodyPr>
          <a:lstStyle/>
          <a:p>
            <a:r>
              <a:rPr lang="en-IN" b="1" dirty="0">
                <a:solidFill>
                  <a:srgbClr val="92D050"/>
                </a:solidFill>
              </a:rPr>
              <a:t>Key Features</a:t>
            </a:r>
          </a:p>
          <a:p>
            <a:endParaRPr lang="en-IN" b="1" dirty="0">
              <a:solidFill>
                <a:srgbClr val="92D050"/>
              </a:solidFill>
            </a:endParaRPr>
          </a:p>
          <a:p>
            <a:pPr marL="285750" indent="-285750">
              <a:buFont typeface="Arial" panose="020B0604020202020204" pitchFamily="34" charset="0"/>
              <a:buChar char="•"/>
            </a:pPr>
            <a:r>
              <a:rPr lang="en-IN" dirty="0"/>
              <a:t>Automated ingestion </a:t>
            </a:r>
          </a:p>
          <a:p>
            <a:pPr marL="285750" indent="-285750">
              <a:buFont typeface="Arial" panose="020B0604020202020204" pitchFamily="34" charset="0"/>
              <a:buChar char="•"/>
            </a:pPr>
            <a:r>
              <a:rPr lang="en-IN" dirty="0"/>
              <a:t>Data cleaning </a:t>
            </a:r>
          </a:p>
          <a:p>
            <a:pPr marL="285750" indent="-285750">
              <a:buFont typeface="Arial" panose="020B0604020202020204" pitchFamily="34" charset="0"/>
              <a:buChar char="•"/>
            </a:pPr>
            <a:r>
              <a:rPr lang="en-IN" dirty="0"/>
              <a:t>Missing value handling </a:t>
            </a:r>
          </a:p>
          <a:p>
            <a:pPr marL="285750" indent="-285750">
              <a:buFont typeface="Arial" panose="020B0604020202020204" pitchFamily="34" charset="0"/>
              <a:buChar char="•"/>
            </a:pPr>
            <a:r>
              <a:rPr lang="en-IN" dirty="0"/>
              <a:t>SQLite loading </a:t>
            </a:r>
          </a:p>
          <a:p>
            <a:pPr marL="285750" indent="-285750">
              <a:buFont typeface="Arial" panose="020B0604020202020204" pitchFamily="34" charset="0"/>
              <a:buChar char="•"/>
            </a:pPr>
            <a:r>
              <a:rPr lang="en-IN" dirty="0"/>
              <a:t>Error validation</a:t>
            </a:r>
          </a:p>
          <a:p>
            <a:endParaRPr lang="en-IN" dirty="0"/>
          </a:p>
        </p:txBody>
      </p:sp>
      <p:sp>
        <p:nvSpPr>
          <p:cNvPr id="8" name="Title 1">
            <a:extLst>
              <a:ext uri="{FF2B5EF4-FFF2-40B4-BE49-F238E27FC236}">
                <a16:creationId xmlns:a16="http://schemas.microsoft.com/office/drawing/2014/main" id="{1104F559-47A4-F4F1-1889-5DA565F716B2}"/>
              </a:ext>
            </a:extLst>
          </p:cNvPr>
          <p:cNvSpPr txBox="1">
            <a:spLocks/>
          </p:cNvSpPr>
          <p:nvPr/>
        </p:nvSpPr>
        <p:spPr>
          <a:xfrm>
            <a:off x="6096000" y="609599"/>
            <a:ext cx="4103984" cy="52513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t>ETL Workflow</a:t>
            </a:r>
          </a:p>
        </p:txBody>
      </p:sp>
      <p:sp>
        <p:nvSpPr>
          <p:cNvPr id="10" name="Flowchart: Process 9">
            <a:extLst>
              <a:ext uri="{FF2B5EF4-FFF2-40B4-BE49-F238E27FC236}">
                <a16:creationId xmlns:a16="http://schemas.microsoft.com/office/drawing/2014/main" id="{19AA525F-D876-7977-D50B-DED880F3E325}"/>
              </a:ext>
            </a:extLst>
          </p:cNvPr>
          <p:cNvSpPr/>
          <p:nvPr/>
        </p:nvSpPr>
        <p:spPr>
          <a:xfrm>
            <a:off x="6418344" y="2225406"/>
            <a:ext cx="1729648" cy="484743"/>
          </a:xfrm>
          <a:prstGeom prst="flowChartProces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Ingestion</a:t>
            </a:r>
          </a:p>
        </p:txBody>
      </p:sp>
      <p:sp>
        <p:nvSpPr>
          <p:cNvPr id="16" name="Flowchart: Process 15">
            <a:extLst>
              <a:ext uri="{FF2B5EF4-FFF2-40B4-BE49-F238E27FC236}">
                <a16:creationId xmlns:a16="http://schemas.microsoft.com/office/drawing/2014/main" id="{788C887F-78E4-E029-1CF8-2A618EA6B43C}"/>
              </a:ext>
            </a:extLst>
          </p:cNvPr>
          <p:cNvSpPr/>
          <p:nvPr/>
        </p:nvSpPr>
        <p:spPr>
          <a:xfrm>
            <a:off x="6418344" y="3206825"/>
            <a:ext cx="1729648" cy="484743"/>
          </a:xfrm>
          <a:prstGeom prst="flowChartProces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Cleaning</a:t>
            </a:r>
          </a:p>
        </p:txBody>
      </p:sp>
      <p:sp>
        <p:nvSpPr>
          <p:cNvPr id="18" name="Flowchart: Process 17">
            <a:extLst>
              <a:ext uri="{FF2B5EF4-FFF2-40B4-BE49-F238E27FC236}">
                <a16:creationId xmlns:a16="http://schemas.microsoft.com/office/drawing/2014/main" id="{48594183-6AC3-8314-5212-78574095CF49}"/>
              </a:ext>
            </a:extLst>
          </p:cNvPr>
          <p:cNvSpPr/>
          <p:nvPr/>
        </p:nvSpPr>
        <p:spPr>
          <a:xfrm>
            <a:off x="6418344" y="4188244"/>
            <a:ext cx="1729648" cy="484743"/>
          </a:xfrm>
          <a:prstGeom prst="flowChartProces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SQLite</a:t>
            </a:r>
          </a:p>
        </p:txBody>
      </p:sp>
      <p:sp>
        <p:nvSpPr>
          <p:cNvPr id="20" name="Flowchart: Process 19">
            <a:extLst>
              <a:ext uri="{FF2B5EF4-FFF2-40B4-BE49-F238E27FC236}">
                <a16:creationId xmlns:a16="http://schemas.microsoft.com/office/drawing/2014/main" id="{A8FFAEF3-1DDB-9C95-F286-D9BA4198F3B5}"/>
              </a:ext>
            </a:extLst>
          </p:cNvPr>
          <p:cNvSpPr/>
          <p:nvPr/>
        </p:nvSpPr>
        <p:spPr>
          <a:xfrm>
            <a:off x="6418344" y="5169663"/>
            <a:ext cx="1729648" cy="484743"/>
          </a:xfrm>
          <a:prstGeom prst="flowChartProces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Analytics</a:t>
            </a:r>
          </a:p>
        </p:txBody>
      </p:sp>
      <p:sp>
        <p:nvSpPr>
          <p:cNvPr id="22" name="Flowchart: Process 21">
            <a:extLst>
              <a:ext uri="{FF2B5EF4-FFF2-40B4-BE49-F238E27FC236}">
                <a16:creationId xmlns:a16="http://schemas.microsoft.com/office/drawing/2014/main" id="{27952907-6EE1-B6F6-D7E7-03BAA81933A2}"/>
              </a:ext>
            </a:extLst>
          </p:cNvPr>
          <p:cNvSpPr/>
          <p:nvPr/>
        </p:nvSpPr>
        <p:spPr>
          <a:xfrm>
            <a:off x="6418344" y="6151082"/>
            <a:ext cx="1729648" cy="484743"/>
          </a:xfrm>
          <a:prstGeom prst="flowChartProces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Dashboard</a:t>
            </a:r>
          </a:p>
        </p:txBody>
      </p:sp>
      <p:sp>
        <p:nvSpPr>
          <p:cNvPr id="23" name="Arrow: Down 22">
            <a:extLst>
              <a:ext uri="{FF2B5EF4-FFF2-40B4-BE49-F238E27FC236}">
                <a16:creationId xmlns:a16="http://schemas.microsoft.com/office/drawing/2014/main" id="{B82BEC35-64B3-A025-7D56-E044CF51E23B}"/>
              </a:ext>
            </a:extLst>
          </p:cNvPr>
          <p:cNvSpPr/>
          <p:nvPr/>
        </p:nvSpPr>
        <p:spPr>
          <a:xfrm>
            <a:off x="7074357" y="1883886"/>
            <a:ext cx="336326" cy="2937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Down 24">
            <a:extLst>
              <a:ext uri="{FF2B5EF4-FFF2-40B4-BE49-F238E27FC236}">
                <a16:creationId xmlns:a16="http://schemas.microsoft.com/office/drawing/2014/main" id="{8F8F79BC-0AC7-F036-C984-467F1FDFB532}"/>
              </a:ext>
            </a:extLst>
          </p:cNvPr>
          <p:cNvSpPr/>
          <p:nvPr/>
        </p:nvSpPr>
        <p:spPr>
          <a:xfrm>
            <a:off x="7094681" y="2796445"/>
            <a:ext cx="316002" cy="34648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Down 26">
            <a:extLst>
              <a:ext uri="{FF2B5EF4-FFF2-40B4-BE49-F238E27FC236}">
                <a16:creationId xmlns:a16="http://schemas.microsoft.com/office/drawing/2014/main" id="{8F385E35-387F-D67C-55DA-5B595DDEC57C}"/>
              </a:ext>
            </a:extLst>
          </p:cNvPr>
          <p:cNvSpPr/>
          <p:nvPr/>
        </p:nvSpPr>
        <p:spPr>
          <a:xfrm>
            <a:off x="7074357" y="3827989"/>
            <a:ext cx="336326" cy="2963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Down 28">
            <a:extLst>
              <a:ext uri="{FF2B5EF4-FFF2-40B4-BE49-F238E27FC236}">
                <a16:creationId xmlns:a16="http://schemas.microsoft.com/office/drawing/2014/main" id="{33C6B0FB-32B0-3CCE-447F-10EB63D8AC40}"/>
              </a:ext>
            </a:extLst>
          </p:cNvPr>
          <p:cNvSpPr/>
          <p:nvPr/>
        </p:nvSpPr>
        <p:spPr>
          <a:xfrm>
            <a:off x="7034218" y="4782285"/>
            <a:ext cx="376465" cy="2780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Down 30">
            <a:extLst>
              <a:ext uri="{FF2B5EF4-FFF2-40B4-BE49-F238E27FC236}">
                <a16:creationId xmlns:a16="http://schemas.microsoft.com/office/drawing/2014/main" id="{279B3F9C-36F1-B235-F63B-E63C4C011D5B}"/>
              </a:ext>
            </a:extLst>
          </p:cNvPr>
          <p:cNvSpPr/>
          <p:nvPr/>
        </p:nvSpPr>
        <p:spPr>
          <a:xfrm>
            <a:off x="7034217" y="5807912"/>
            <a:ext cx="376465" cy="27808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4578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C411-7DE7-7A2E-CA59-A9325C1A1349}"/>
              </a:ext>
            </a:extLst>
          </p:cNvPr>
          <p:cNvSpPr>
            <a:spLocks noGrp="1"/>
          </p:cNvSpPr>
          <p:nvPr>
            <p:ph type="title"/>
          </p:nvPr>
        </p:nvSpPr>
        <p:spPr>
          <a:xfrm>
            <a:off x="677334" y="609600"/>
            <a:ext cx="8596668" cy="1320800"/>
          </a:xfrm>
        </p:spPr>
        <p:txBody>
          <a:bodyPr anchor="t">
            <a:normAutofit/>
          </a:bodyPr>
          <a:lstStyle/>
          <a:p>
            <a:r>
              <a:rPr lang="en-IN"/>
              <a:t>Exploratory Data Analysis (EDA)</a:t>
            </a:r>
          </a:p>
        </p:txBody>
      </p:sp>
      <p:sp>
        <p:nvSpPr>
          <p:cNvPr id="3" name="Content Placeholder 2">
            <a:extLst>
              <a:ext uri="{FF2B5EF4-FFF2-40B4-BE49-F238E27FC236}">
                <a16:creationId xmlns:a16="http://schemas.microsoft.com/office/drawing/2014/main" id="{A926AF56-01DE-F30B-D994-EB1D17381D1D}"/>
              </a:ext>
            </a:extLst>
          </p:cNvPr>
          <p:cNvSpPr>
            <a:spLocks noGrp="1"/>
          </p:cNvSpPr>
          <p:nvPr>
            <p:ph idx="1"/>
          </p:nvPr>
        </p:nvSpPr>
        <p:spPr>
          <a:xfrm>
            <a:off x="678424" y="1479192"/>
            <a:ext cx="6515590" cy="979218"/>
          </a:xfrm>
        </p:spPr>
        <p:txBody>
          <a:bodyPr>
            <a:normAutofit/>
          </a:bodyPr>
          <a:lstStyle/>
          <a:p>
            <a:pPr marL="0" indent="0">
              <a:buNone/>
            </a:pPr>
            <a:r>
              <a:rPr lang="en-IN" dirty="0"/>
              <a:t>Exploratory Data Analysis was performed to identify investment trends, fund growth patterns, investor behaviour, and category-wise inflows using Python and Pandas</a:t>
            </a:r>
          </a:p>
        </p:txBody>
      </p:sp>
      <p:sp>
        <p:nvSpPr>
          <p:cNvPr id="6" name="TextBox 5">
            <a:extLst>
              <a:ext uri="{FF2B5EF4-FFF2-40B4-BE49-F238E27FC236}">
                <a16:creationId xmlns:a16="http://schemas.microsoft.com/office/drawing/2014/main" id="{F129655F-7E97-BB8E-8CB2-A143CE434776}"/>
              </a:ext>
            </a:extLst>
          </p:cNvPr>
          <p:cNvSpPr txBox="1"/>
          <p:nvPr/>
        </p:nvSpPr>
        <p:spPr>
          <a:xfrm>
            <a:off x="677334" y="2532358"/>
            <a:ext cx="3349128" cy="338554"/>
          </a:xfrm>
          <a:prstGeom prst="rect">
            <a:avLst/>
          </a:prstGeom>
          <a:noFill/>
        </p:spPr>
        <p:txBody>
          <a:bodyPr wrap="square" rtlCol="0">
            <a:spAutoFit/>
          </a:bodyPr>
          <a:lstStyle/>
          <a:p>
            <a:r>
              <a:rPr lang="en-IN" sz="1600" dirty="0">
                <a:ln w="0"/>
                <a:solidFill>
                  <a:schemeClr val="accent1"/>
                </a:solidFill>
                <a:effectLst>
                  <a:outerShdw blurRad="38100" dist="25400" dir="5400000" algn="ctr" rotWithShape="0">
                    <a:srgbClr val="6E747A">
                      <a:alpha val="43000"/>
                    </a:srgbClr>
                  </a:outerShdw>
                </a:effectLst>
              </a:rPr>
              <a:t>AUM Growth by Fund House</a:t>
            </a:r>
          </a:p>
        </p:txBody>
      </p:sp>
      <p:sp>
        <p:nvSpPr>
          <p:cNvPr id="7" name="TextBox 6">
            <a:extLst>
              <a:ext uri="{FF2B5EF4-FFF2-40B4-BE49-F238E27FC236}">
                <a16:creationId xmlns:a16="http://schemas.microsoft.com/office/drawing/2014/main" id="{784EFCDB-9A4A-FA88-BB32-38941A2FC7A0}"/>
              </a:ext>
            </a:extLst>
          </p:cNvPr>
          <p:cNvSpPr txBox="1"/>
          <p:nvPr/>
        </p:nvSpPr>
        <p:spPr>
          <a:xfrm>
            <a:off x="6984695" y="2944860"/>
            <a:ext cx="4656461" cy="2585323"/>
          </a:xfrm>
          <a:prstGeom prst="rect">
            <a:avLst/>
          </a:prstGeom>
          <a:noFill/>
        </p:spPr>
        <p:txBody>
          <a:bodyPr wrap="square" rtlCol="0">
            <a:spAutoFit/>
          </a:bodyPr>
          <a:lstStyle/>
          <a:p>
            <a:r>
              <a:rPr lang="en-IN" b="1" dirty="0">
                <a:solidFill>
                  <a:schemeClr val="accent1"/>
                </a:solidFill>
              </a:rPr>
              <a:t>Key Insights</a:t>
            </a:r>
          </a:p>
          <a:p>
            <a:endParaRPr lang="en-IN" b="1" dirty="0"/>
          </a:p>
          <a:p>
            <a:pPr marL="285750" indent="-285750">
              <a:buFont typeface="Arial" panose="020B0604020202020204" pitchFamily="34" charset="0"/>
              <a:buChar char="•"/>
            </a:pPr>
            <a:r>
              <a:rPr lang="en-IN" sz="1400" dirty="0"/>
              <a:t>Assets Under Management (AUM) increased steadily from </a:t>
            </a:r>
            <a:r>
              <a:rPr lang="en-IN" sz="1400" b="1" dirty="0"/>
              <a:t>2022 to 2025</a:t>
            </a:r>
            <a:r>
              <a:rPr lang="en-IN" sz="1400" dirty="0"/>
              <a:t>, indicating consistent industry growth. </a:t>
            </a:r>
          </a:p>
          <a:p>
            <a:pPr marL="285750" indent="-285750">
              <a:buFont typeface="Arial" panose="020B0604020202020204" pitchFamily="34" charset="0"/>
              <a:buChar char="•"/>
            </a:pPr>
            <a:r>
              <a:rPr lang="en-IN" sz="1400" dirty="0"/>
              <a:t>Large fund houses such as </a:t>
            </a:r>
            <a:r>
              <a:rPr lang="en-IN" sz="1400" b="1" dirty="0"/>
              <a:t>SBI Mutual Fund, HDFC Mutual Fund, and ICICI Prudential MF</a:t>
            </a:r>
            <a:r>
              <a:rPr lang="en-IN" sz="1400" dirty="0"/>
              <a:t> maintained higher AUM compared with others. </a:t>
            </a:r>
          </a:p>
          <a:p>
            <a:pPr marL="285750" indent="-285750">
              <a:buFont typeface="Arial" panose="020B0604020202020204" pitchFamily="34" charset="0"/>
              <a:buChar char="•"/>
            </a:pPr>
            <a:r>
              <a:rPr lang="en-IN" sz="1400" dirty="0"/>
              <a:t>The upward trend reflects increasing investor confidence and continued inflows into mutual funds.</a:t>
            </a:r>
          </a:p>
        </p:txBody>
      </p:sp>
      <p:pic>
        <p:nvPicPr>
          <p:cNvPr id="9" name="Picture 8">
            <a:extLst>
              <a:ext uri="{FF2B5EF4-FFF2-40B4-BE49-F238E27FC236}">
                <a16:creationId xmlns:a16="http://schemas.microsoft.com/office/drawing/2014/main" id="{E6ECDAF4-C6A4-95A3-2155-D8BC20EFE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44" y="2944860"/>
            <a:ext cx="6070294" cy="3739445"/>
          </a:xfrm>
          <a:prstGeom prst="rect">
            <a:avLst/>
          </a:prstGeom>
          <a:ln>
            <a:solidFill>
              <a:schemeClr val="accent1"/>
            </a:solidFill>
          </a:ln>
        </p:spPr>
      </p:pic>
    </p:spTree>
    <p:extLst>
      <p:ext uri="{BB962C8B-B14F-4D97-AF65-F5344CB8AC3E}">
        <p14:creationId xmlns:p14="http://schemas.microsoft.com/office/powerpoint/2010/main" val="1416675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457F8-031B-2AAF-909E-8926DD18FEA1}"/>
              </a:ext>
            </a:extLst>
          </p:cNvPr>
          <p:cNvSpPr>
            <a:spLocks noGrp="1"/>
          </p:cNvSpPr>
          <p:nvPr>
            <p:ph type="title"/>
          </p:nvPr>
        </p:nvSpPr>
        <p:spPr>
          <a:xfrm>
            <a:off x="677334" y="252919"/>
            <a:ext cx="8596668" cy="624289"/>
          </a:xfrm>
        </p:spPr>
        <p:txBody>
          <a:bodyPr>
            <a:normAutofit/>
          </a:bodyPr>
          <a:lstStyle/>
          <a:p>
            <a:r>
              <a:rPr lang="en-IN" sz="2800" dirty="0"/>
              <a:t>Category-wise Net Inflow Heatmap</a:t>
            </a:r>
          </a:p>
        </p:txBody>
      </p:sp>
      <p:pic>
        <p:nvPicPr>
          <p:cNvPr id="5" name="Content Placeholder 4">
            <a:extLst>
              <a:ext uri="{FF2B5EF4-FFF2-40B4-BE49-F238E27FC236}">
                <a16:creationId xmlns:a16="http://schemas.microsoft.com/office/drawing/2014/main" id="{6B9A19B8-3AC2-8720-DD61-35DBC16DFC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4" y="895100"/>
            <a:ext cx="8863273" cy="3393195"/>
          </a:xfrm>
          <a:prstGeom prst="rect">
            <a:avLst/>
          </a:prstGeom>
          <a:ln>
            <a:solidFill>
              <a:schemeClr val="accent1"/>
            </a:solidFill>
          </a:ln>
        </p:spPr>
      </p:pic>
      <p:sp>
        <p:nvSpPr>
          <p:cNvPr id="6" name="TextBox 5">
            <a:extLst>
              <a:ext uri="{FF2B5EF4-FFF2-40B4-BE49-F238E27FC236}">
                <a16:creationId xmlns:a16="http://schemas.microsoft.com/office/drawing/2014/main" id="{334717C2-9917-42DF-2D4A-7AEFE1FA9844}"/>
              </a:ext>
            </a:extLst>
          </p:cNvPr>
          <p:cNvSpPr txBox="1"/>
          <p:nvPr/>
        </p:nvSpPr>
        <p:spPr>
          <a:xfrm>
            <a:off x="677334" y="4506837"/>
            <a:ext cx="8863273" cy="1877437"/>
          </a:xfrm>
          <a:prstGeom prst="rect">
            <a:avLst/>
          </a:prstGeom>
          <a:noFill/>
        </p:spPr>
        <p:txBody>
          <a:bodyPr wrap="square" rtlCol="0">
            <a:spAutoFit/>
          </a:bodyPr>
          <a:lstStyle/>
          <a:p>
            <a:r>
              <a:rPr lang="en-IN" b="1" dirty="0">
                <a:solidFill>
                  <a:schemeClr val="accent1"/>
                </a:solidFill>
              </a:rPr>
              <a:t>Key Insights</a:t>
            </a:r>
          </a:p>
          <a:p>
            <a:pPr marL="285750" indent="-285750">
              <a:buFont typeface="Arial" panose="020B0604020202020204" pitchFamily="34" charset="0"/>
              <a:buChar char="•"/>
            </a:pPr>
            <a:r>
              <a:rPr lang="en-IN" sz="1600" dirty="0"/>
              <a:t>Flexi Cap, Mid Cap, and Large &amp; Mid Cap categories recorded comparatively higher net inflows across multiple months. </a:t>
            </a:r>
          </a:p>
          <a:p>
            <a:pPr marL="285750" indent="-285750">
              <a:buFont typeface="Arial" panose="020B0604020202020204" pitchFamily="34" charset="0"/>
              <a:buChar char="•"/>
            </a:pPr>
            <a:r>
              <a:rPr lang="en-IN" sz="1600" dirty="0"/>
              <a:t>Category-wise inflows varied over time, showing changing investor preferences. </a:t>
            </a:r>
          </a:p>
          <a:p>
            <a:pPr marL="285750" indent="-285750">
              <a:buFont typeface="Arial" panose="020B0604020202020204" pitchFamily="34" charset="0"/>
              <a:buChar char="•"/>
            </a:pPr>
            <a:r>
              <a:rPr lang="en-IN" sz="1600" dirty="0"/>
              <a:t>Most categories maintained positive inflows during the analysis period, indicating healthy market participation.</a:t>
            </a:r>
          </a:p>
          <a:p>
            <a:endParaRPr lang="en-IN" dirty="0"/>
          </a:p>
        </p:txBody>
      </p:sp>
    </p:spTree>
    <p:extLst>
      <p:ext uri="{BB962C8B-B14F-4D97-AF65-F5344CB8AC3E}">
        <p14:creationId xmlns:p14="http://schemas.microsoft.com/office/powerpoint/2010/main" val="3343615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4095-B051-EF3A-C96A-E4A461C922CD}"/>
              </a:ext>
            </a:extLst>
          </p:cNvPr>
          <p:cNvSpPr>
            <a:spLocks noGrp="1"/>
          </p:cNvSpPr>
          <p:nvPr>
            <p:ph type="title"/>
          </p:nvPr>
        </p:nvSpPr>
        <p:spPr>
          <a:xfrm>
            <a:off x="677334" y="609600"/>
            <a:ext cx="8596668" cy="459036"/>
          </a:xfrm>
        </p:spPr>
        <p:txBody>
          <a:bodyPr>
            <a:normAutofit fontScale="90000"/>
          </a:bodyPr>
          <a:lstStyle/>
          <a:p>
            <a:r>
              <a:rPr lang="en-IN" sz="2800" dirty="0"/>
              <a:t>Monthly SIP Inflow Trend</a:t>
            </a:r>
          </a:p>
        </p:txBody>
      </p:sp>
      <p:pic>
        <p:nvPicPr>
          <p:cNvPr id="5" name="Picture 4">
            <a:extLst>
              <a:ext uri="{FF2B5EF4-FFF2-40B4-BE49-F238E27FC236}">
                <a16:creationId xmlns:a16="http://schemas.microsoft.com/office/drawing/2014/main" id="{0C5F0491-4112-D9F2-8C66-362927B831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271528"/>
            <a:ext cx="8863273" cy="3410641"/>
          </a:xfrm>
          <a:prstGeom prst="rect">
            <a:avLst/>
          </a:prstGeom>
          <a:ln>
            <a:solidFill>
              <a:schemeClr val="accent1"/>
            </a:solidFill>
          </a:ln>
        </p:spPr>
      </p:pic>
      <p:sp>
        <p:nvSpPr>
          <p:cNvPr id="6" name="TextBox 5">
            <a:extLst>
              <a:ext uri="{FF2B5EF4-FFF2-40B4-BE49-F238E27FC236}">
                <a16:creationId xmlns:a16="http://schemas.microsoft.com/office/drawing/2014/main" id="{6F9DD37C-FBA3-AE72-3E3D-299CEDE67291}"/>
              </a:ext>
            </a:extLst>
          </p:cNvPr>
          <p:cNvSpPr txBox="1"/>
          <p:nvPr/>
        </p:nvSpPr>
        <p:spPr>
          <a:xfrm>
            <a:off x="677333" y="5133860"/>
            <a:ext cx="8863273" cy="1384995"/>
          </a:xfrm>
          <a:prstGeom prst="rect">
            <a:avLst/>
          </a:prstGeom>
          <a:noFill/>
        </p:spPr>
        <p:txBody>
          <a:bodyPr wrap="square" rtlCol="0">
            <a:spAutoFit/>
          </a:bodyPr>
          <a:lstStyle/>
          <a:p>
            <a:r>
              <a:rPr lang="en-IN" b="1" dirty="0">
                <a:solidFill>
                  <a:schemeClr val="accent1"/>
                </a:solidFill>
              </a:rPr>
              <a:t>Key Insights</a:t>
            </a:r>
          </a:p>
          <a:p>
            <a:pPr marL="285750" indent="-285750">
              <a:buFont typeface="Arial" panose="020B0604020202020204" pitchFamily="34" charset="0"/>
              <a:buChar char="•"/>
            </a:pPr>
            <a:r>
              <a:rPr lang="en-IN" sz="1600" dirty="0"/>
              <a:t>Monthly SIP collections showed an overall upward trend during the study period. </a:t>
            </a:r>
          </a:p>
          <a:p>
            <a:pPr marL="285750" indent="-285750">
              <a:buFont typeface="Arial" panose="020B0604020202020204" pitchFamily="34" charset="0"/>
              <a:buChar char="•"/>
            </a:pPr>
            <a:r>
              <a:rPr lang="en-IN" sz="1600" dirty="0"/>
              <a:t>Regular SIP investments indicate growing participation from retail investors. </a:t>
            </a:r>
          </a:p>
          <a:p>
            <a:pPr marL="285750" indent="-285750">
              <a:buFont typeface="Arial" panose="020B0604020202020204" pitchFamily="34" charset="0"/>
              <a:buChar char="•"/>
            </a:pPr>
            <a:r>
              <a:rPr lang="en-IN" sz="1600" dirty="0"/>
              <a:t>Consistent SIP inflows demonstrate increasing long-term investment discipline. </a:t>
            </a:r>
          </a:p>
          <a:p>
            <a:endParaRPr lang="en-IN" dirty="0"/>
          </a:p>
        </p:txBody>
      </p:sp>
    </p:spTree>
    <p:extLst>
      <p:ext uri="{BB962C8B-B14F-4D97-AF65-F5344CB8AC3E}">
        <p14:creationId xmlns:p14="http://schemas.microsoft.com/office/powerpoint/2010/main" val="3288561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E53E3-1C35-B20B-E3CB-3E0FC3DBB84E}"/>
              </a:ext>
            </a:extLst>
          </p:cNvPr>
          <p:cNvSpPr>
            <a:spLocks noGrp="1"/>
          </p:cNvSpPr>
          <p:nvPr>
            <p:ph type="title"/>
          </p:nvPr>
        </p:nvSpPr>
        <p:spPr>
          <a:xfrm>
            <a:off x="677334" y="268077"/>
            <a:ext cx="8596668" cy="635306"/>
          </a:xfrm>
        </p:spPr>
        <p:txBody>
          <a:bodyPr>
            <a:normAutofit/>
          </a:bodyPr>
          <a:lstStyle/>
          <a:p>
            <a:r>
              <a:rPr lang="en-IN" sz="2800" dirty="0"/>
              <a:t>Industry Folio Growth</a:t>
            </a:r>
          </a:p>
        </p:txBody>
      </p:sp>
      <p:pic>
        <p:nvPicPr>
          <p:cNvPr id="5" name="Picture 4">
            <a:extLst>
              <a:ext uri="{FF2B5EF4-FFF2-40B4-BE49-F238E27FC236}">
                <a16:creationId xmlns:a16="http://schemas.microsoft.com/office/drawing/2014/main" id="{3F964D47-53AA-C339-4C4B-2FE60D2F1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919580"/>
            <a:ext cx="8955795" cy="3838198"/>
          </a:xfrm>
          <a:prstGeom prst="rect">
            <a:avLst/>
          </a:prstGeom>
          <a:ln>
            <a:solidFill>
              <a:schemeClr val="accent1"/>
            </a:solidFill>
          </a:ln>
        </p:spPr>
      </p:pic>
      <p:sp>
        <p:nvSpPr>
          <p:cNvPr id="6" name="TextBox 5">
            <a:extLst>
              <a:ext uri="{FF2B5EF4-FFF2-40B4-BE49-F238E27FC236}">
                <a16:creationId xmlns:a16="http://schemas.microsoft.com/office/drawing/2014/main" id="{7DBF83B9-E70F-C49B-9DD3-ED5067A5DA4F}"/>
              </a:ext>
            </a:extLst>
          </p:cNvPr>
          <p:cNvSpPr txBox="1"/>
          <p:nvPr/>
        </p:nvSpPr>
        <p:spPr>
          <a:xfrm>
            <a:off x="677334" y="4990641"/>
            <a:ext cx="8955795" cy="1354217"/>
          </a:xfrm>
          <a:prstGeom prst="rect">
            <a:avLst/>
          </a:prstGeom>
          <a:noFill/>
        </p:spPr>
        <p:txBody>
          <a:bodyPr wrap="square" rtlCol="0">
            <a:spAutoFit/>
          </a:bodyPr>
          <a:lstStyle/>
          <a:p>
            <a:r>
              <a:rPr lang="en-IN" b="1" dirty="0">
                <a:solidFill>
                  <a:schemeClr val="accent1"/>
                </a:solidFill>
              </a:rPr>
              <a:t>Key Insights</a:t>
            </a:r>
          </a:p>
          <a:p>
            <a:pPr marL="285750" indent="-285750">
              <a:buFont typeface="Arial" panose="020B0604020202020204" pitchFamily="34" charset="0"/>
              <a:buChar char="•"/>
            </a:pPr>
            <a:r>
              <a:rPr lang="en-IN" sz="1600" dirty="0"/>
              <a:t>Total mutual fund folios increased steadily between </a:t>
            </a:r>
            <a:r>
              <a:rPr lang="en-IN" sz="1600" b="1" dirty="0"/>
              <a:t>2022 and 2025</a:t>
            </a:r>
            <a:r>
              <a:rPr lang="en-IN" sz="1600" dirty="0"/>
              <a:t>. </a:t>
            </a:r>
          </a:p>
          <a:p>
            <a:pPr marL="285750" indent="-285750">
              <a:buFont typeface="Arial" panose="020B0604020202020204" pitchFamily="34" charset="0"/>
              <a:buChar char="•"/>
            </a:pPr>
            <a:r>
              <a:rPr lang="en-IN" sz="1600" dirty="0"/>
              <a:t>The rise in folios indicates expanding retail investor participation in mutual funds. </a:t>
            </a:r>
          </a:p>
          <a:p>
            <a:pPr marL="285750" indent="-285750">
              <a:buFont typeface="Arial" panose="020B0604020202020204" pitchFamily="34" charset="0"/>
              <a:buChar char="•"/>
            </a:pPr>
            <a:r>
              <a:rPr lang="en-IN" sz="1600" dirty="0"/>
              <a:t>Continuous folio growth reflects increasing awareness and adoption of mutual fund investments. </a:t>
            </a:r>
          </a:p>
        </p:txBody>
      </p:sp>
    </p:spTree>
    <p:extLst>
      <p:ext uri="{BB962C8B-B14F-4D97-AF65-F5344CB8AC3E}">
        <p14:creationId xmlns:p14="http://schemas.microsoft.com/office/powerpoint/2010/main" val="1371628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777C7-0B4A-7CED-8711-C93F1D4243C4}"/>
              </a:ext>
            </a:extLst>
          </p:cNvPr>
          <p:cNvSpPr>
            <a:spLocks noGrp="1"/>
          </p:cNvSpPr>
          <p:nvPr>
            <p:ph type="title"/>
          </p:nvPr>
        </p:nvSpPr>
        <p:spPr>
          <a:xfrm>
            <a:off x="677334" y="422314"/>
            <a:ext cx="8596668" cy="547171"/>
          </a:xfrm>
        </p:spPr>
        <p:txBody>
          <a:bodyPr>
            <a:normAutofit/>
          </a:bodyPr>
          <a:lstStyle/>
          <a:p>
            <a:r>
              <a:rPr lang="en-IN" sz="2800" dirty="0"/>
              <a:t>Performance Analytics</a:t>
            </a:r>
          </a:p>
        </p:txBody>
      </p:sp>
      <p:pic>
        <p:nvPicPr>
          <p:cNvPr id="5" name="Picture 4">
            <a:extLst>
              <a:ext uri="{FF2B5EF4-FFF2-40B4-BE49-F238E27FC236}">
                <a16:creationId xmlns:a16="http://schemas.microsoft.com/office/drawing/2014/main" id="{F79E82E3-BEAB-6A38-2781-87712CC81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3" y="1049439"/>
            <a:ext cx="8596667" cy="3522562"/>
          </a:xfrm>
          <a:prstGeom prst="rect">
            <a:avLst/>
          </a:prstGeom>
          <a:ln>
            <a:solidFill>
              <a:schemeClr val="accent1"/>
            </a:solidFill>
          </a:ln>
        </p:spPr>
      </p:pic>
      <p:sp>
        <p:nvSpPr>
          <p:cNvPr id="6" name="TextBox 5">
            <a:extLst>
              <a:ext uri="{FF2B5EF4-FFF2-40B4-BE49-F238E27FC236}">
                <a16:creationId xmlns:a16="http://schemas.microsoft.com/office/drawing/2014/main" id="{8EE438F8-0C14-D65B-55D4-911A15260463}"/>
              </a:ext>
            </a:extLst>
          </p:cNvPr>
          <p:cNvSpPr txBox="1"/>
          <p:nvPr/>
        </p:nvSpPr>
        <p:spPr>
          <a:xfrm>
            <a:off x="677332" y="4814371"/>
            <a:ext cx="8596667" cy="1631216"/>
          </a:xfrm>
          <a:prstGeom prst="rect">
            <a:avLst/>
          </a:prstGeom>
          <a:noFill/>
        </p:spPr>
        <p:txBody>
          <a:bodyPr wrap="square" rtlCol="0">
            <a:spAutoFit/>
          </a:bodyPr>
          <a:lstStyle/>
          <a:p>
            <a:r>
              <a:rPr lang="en-IN" b="1" dirty="0">
                <a:solidFill>
                  <a:schemeClr val="accent1"/>
                </a:solidFill>
              </a:rPr>
              <a:t>Key Insights</a:t>
            </a:r>
          </a:p>
          <a:p>
            <a:pPr marL="285750" indent="-285750">
              <a:buFont typeface="Arial" panose="020B0604020202020204" pitchFamily="34" charset="0"/>
              <a:buChar char="•"/>
            </a:pPr>
            <a:r>
              <a:rPr lang="en-IN" sz="1600" dirty="0"/>
              <a:t>Rolling Sharpe Ratio fluctuated over time, reflecting changing market conditions. </a:t>
            </a:r>
          </a:p>
          <a:p>
            <a:pPr marL="285750" indent="-285750">
              <a:buFont typeface="Arial" panose="020B0604020202020204" pitchFamily="34" charset="0"/>
              <a:buChar char="•"/>
            </a:pPr>
            <a:r>
              <a:rPr lang="en-IN" sz="1600" dirty="0"/>
              <a:t>Higher Sharpe values indicate better risk-adjusted returns during those periods. </a:t>
            </a:r>
          </a:p>
          <a:p>
            <a:pPr marL="285750" indent="-285750">
              <a:buFont typeface="Arial" panose="020B0604020202020204" pitchFamily="34" charset="0"/>
              <a:buChar char="•"/>
            </a:pPr>
            <a:r>
              <a:rPr lang="en-IN" sz="1600" dirty="0"/>
              <a:t>The metric helps compare fund performance while considering both return and volatility.</a:t>
            </a:r>
          </a:p>
          <a:p>
            <a:endParaRPr lang="en-IN" dirty="0"/>
          </a:p>
        </p:txBody>
      </p:sp>
    </p:spTree>
    <p:extLst>
      <p:ext uri="{BB962C8B-B14F-4D97-AF65-F5344CB8AC3E}">
        <p14:creationId xmlns:p14="http://schemas.microsoft.com/office/powerpoint/2010/main" val="1864323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DE2C-BB30-709A-405A-1F302BBE23A8}"/>
              </a:ext>
            </a:extLst>
          </p:cNvPr>
          <p:cNvSpPr>
            <a:spLocks noGrp="1"/>
          </p:cNvSpPr>
          <p:nvPr>
            <p:ph type="title"/>
          </p:nvPr>
        </p:nvSpPr>
        <p:spPr>
          <a:xfrm>
            <a:off x="677334" y="356212"/>
            <a:ext cx="8596668" cy="591239"/>
          </a:xfrm>
        </p:spPr>
        <p:txBody>
          <a:bodyPr>
            <a:normAutofit/>
          </a:bodyPr>
          <a:lstStyle/>
          <a:p>
            <a:r>
              <a:rPr lang="en-IN" sz="2800" dirty="0"/>
              <a:t>Advanced Analytics</a:t>
            </a:r>
          </a:p>
        </p:txBody>
      </p:sp>
      <p:pic>
        <p:nvPicPr>
          <p:cNvPr id="5" name="Picture 4">
            <a:extLst>
              <a:ext uri="{FF2B5EF4-FFF2-40B4-BE49-F238E27FC236}">
                <a16:creationId xmlns:a16="http://schemas.microsoft.com/office/drawing/2014/main" id="{D3AEB9FF-16E3-5878-6A9F-715CED8E32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947452"/>
            <a:ext cx="8596668" cy="3536414"/>
          </a:xfrm>
          <a:prstGeom prst="rect">
            <a:avLst/>
          </a:prstGeom>
          <a:ln>
            <a:solidFill>
              <a:schemeClr val="accent1"/>
            </a:solidFill>
          </a:ln>
        </p:spPr>
      </p:pic>
      <p:sp>
        <p:nvSpPr>
          <p:cNvPr id="6" name="TextBox 5">
            <a:extLst>
              <a:ext uri="{FF2B5EF4-FFF2-40B4-BE49-F238E27FC236}">
                <a16:creationId xmlns:a16="http://schemas.microsoft.com/office/drawing/2014/main" id="{1B7CD958-F172-D5A3-0C30-9A09B6658732}"/>
              </a:ext>
            </a:extLst>
          </p:cNvPr>
          <p:cNvSpPr txBox="1"/>
          <p:nvPr/>
        </p:nvSpPr>
        <p:spPr>
          <a:xfrm>
            <a:off x="677334" y="5045725"/>
            <a:ext cx="8596668" cy="1600438"/>
          </a:xfrm>
          <a:prstGeom prst="rect">
            <a:avLst/>
          </a:prstGeom>
          <a:noFill/>
        </p:spPr>
        <p:txBody>
          <a:bodyPr wrap="square" rtlCol="0">
            <a:spAutoFit/>
          </a:bodyPr>
          <a:lstStyle/>
          <a:p>
            <a:r>
              <a:rPr lang="en-IN" b="1" dirty="0">
                <a:solidFill>
                  <a:schemeClr val="accent1"/>
                </a:solidFill>
              </a:rPr>
              <a:t>Key Insights</a:t>
            </a:r>
          </a:p>
          <a:p>
            <a:pPr marL="285750" indent="-285750">
              <a:buFont typeface="Arial" panose="020B0604020202020204" pitchFamily="34" charset="0"/>
              <a:buChar char="•"/>
            </a:pPr>
            <a:r>
              <a:rPr lang="en-IN" sz="1600" dirty="0"/>
              <a:t>Benchmark comparison helps measure whether funds outperform or underperform the market. </a:t>
            </a:r>
          </a:p>
          <a:p>
            <a:pPr marL="285750" indent="-285750">
              <a:buFont typeface="Arial" panose="020B0604020202020204" pitchFamily="34" charset="0"/>
              <a:buChar char="•"/>
            </a:pPr>
            <a:r>
              <a:rPr lang="en-IN" sz="1600" dirty="0" err="1"/>
              <a:t>VaR</a:t>
            </a:r>
            <a:r>
              <a:rPr lang="en-IN" sz="1600" dirty="0"/>
              <a:t> estimates the maximum expected loss at a chosen confidence level. </a:t>
            </a:r>
          </a:p>
          <a:p>
            <a:pPr marL="285750" indent="-285750">
              <a:buFont typeface="Arial" panose="020B0604020202020204" pitchFamily="34" charset="0"/>
              <a:buChar char="•"/>
            </a:pPr>
            <a:r>
              <a:rPr lang="en-IN" sz="1600" dirty="0"/>
              <a:t>CVaR measures the average loss beyond the </a:t>
            </a:r>
            <a:r>
              <a:rPr lang="en-IN" sz="1600" dirty="0" err="1"/>
              <a:t>VaR</a:t>
            </a:r>
            <a:r>
              <a:rPr lang="en-IN" sz="1600" dirty="0"/>
              <a:t> threshold, providing deeper downside risk analysis.</a:t>
            </a:r>
          </a:p>
        </p:txBody>
      </p:sp>
    </p:spTree>
    <p:extLst>
      <p:ext uri="{BB962C8B-B14F-4D97-AF65-F5344CB8AC3E}">
        <p14:creationId xmlns:p14="http://schemas.microsoft.com/office/powerpoint/2010/main" val="2268371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C860-FD7A-B9D2-016D-5E8DC7F577F0}"/>
              </a:ext>
            </a:extLst>
          </p:cNvPr>
          <p:cNvSpPr>
            <a:spLocks noGrp="1"/>
          </p:cNvSpPr>
          <p:nvPr>
            <p:ph type="title"/>
          </p:nvPr>
        </p:nvSpPr>
        <p:spPr>
          <a:xfrm>
            <a:off x="677334" y="269467"/>
            <a:ext cx="8596668" cy="547171"/>
          </a:xfrm>
        </p:spPr>
        <p:txBody>
          <a:bodyPr>
            <a:normAutofit/>
          </a:bodyPr>
          <a:lstStyle/>
          <a:p>
            <a:r>
              <a:rPr lang="en-IN" sz="2800" dirty="0"/>
              <a:t>Industry Overview</a:t>
            </a:r>
          </a:p>
        </p:txBody>
      </p:sp>
      <p:pic>
        <p:nvPicPr>
          <p:cNvPr id="5" name="Picture 4">
            <a:extLst>
              <a:ext uri="{FF2B5EF4-FFF2-40B4-BE49-F238E27FC236}">
                <a16:creationId xmlns:a16="http://schemas.microsoft.com/office/drawing/2014/main" id="{FDB9C716-6B4A-3FE5-A030-2AD292776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816638"/>
            <a:ext cx="8596668" cy="3700278"/>
          </a:xfrm>
          <a:prstGeom prst="rect">
            <a:avLst/>
          </a:prstGeom>
          <a:ln>
            <a:solidFill>
              <a:schemeClr val="accent1"/>
            </a:solidFill>
          </a:ln>
        </p:spPr>
      </p:pic>
      <p:sp>
        <p:nvSpPr>
          <p:cNvPr id="6" name="TextBox 5">
            <a:extLst>
              <a:ext uri="{FF2B5EF4-FFF2-40B4-BE49-F238E27FC236}">
                <a16:creationId xmlns:a16="http://schemas.microsoft.com/office/drawing/2014/main" id="{D421F7B9-F6F7-2A00-2E5D-A9153C142196}"/>
              </a:ext>
            </a:extLst>
          </p:cNvPr>
          <p:cNvSpPr txBox="1"/>
          <p:nvPr/>
        </p:nvSpPr>
        <p:spPr>
          <a:xfrm>
            <a:off x="677334" y="4862557"/>
            <a:ext cx="8596668" cy="1107996"/>
          </a:xfrm>
          <a:prstGeom prst="rect">
            <a:avLst/>
          </a:prstGeom>
          <a:noFill/>
        </p:spPr>
        <p:txBody>
          <a:bodyPr wrap="square" rtlCol="0">
            <a:spAutoFit/>
          </a:bodyPr>
          <a:lstStyle/>
          <a:p>
            <a:r>
              <a:rPr lang="en-IN" b="1" dirty="0">
                <a:solidFill>
                  <a:schemeClr val="accent1"/>
                </a:solidFill>
              </a:rPr>
              <a:t>Key Features</a:t>
            </a:r>
          </a:p>
          <a:p>
            <a:pPr marL="285750" indent="-285750">
              <a:buFont typeface="Arial" panose="020B0604020202020204" pitchFamily="34" charset="0"/>
              <a:buChar char="•"/>
            </a:pPr>
            <a:r>
              <a:rPr lang="en-IN" sz="1600" dirty="0"/>
              <a:t>Presents key mutual fund industry KPIs in a single view. </a:t>
            </a:r>
          </a:p>
          <a:p>
            <a:pPr marL="285750" indent="-285750">
              <a:buFont typeface="Arial" panose="020B0604020202020204" pitchFamily="34" charset="0"/>
              <a:buChar char="•"/>
            </a:pPr>
            <a:r>
              <a:rPr lang="en-IN" sz="1600" dirty="0"/>
              <a:t>Shows AUM growth and category-level trends. </a:t>
            </a:r>
          </a:p>
          <a:p>
            <a:pPr marL="285750" indent="-285750">
              <a:buFont typeface="Arial" panose="020B0604020202020204" pitchFamily="34" charset="0"/>
              <a:buChar char="•"/>
            </a:pPr>
            <a:r>
              <a:rPr lang="en-IN" sz="1600" dirty="0"/>
              <a:t>Interactive slicers enable dynamic data exploration.</a:t>
            </a:r>
          </a:p>
        </p:txBody>
      </p:sp>
    </p:spTree>
    <p:extLst>
      <p:ext uri="{BB962C8B-B14F-4D97-AF65-F5344CB8AC3E}">
        <p14:creationId xmlns:p14="http://schemas.microsoft.com/office/powerpoint/2010/main" val="4055294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0843E-6681-243C-DF66-E7681CA09611}"/>
              </a:ext>
            </a:extLst>
          </p:cNvPr>
          <p:cNvSpPr>
            <a:spLocks noGrp="1"/>
          </p:cNvSpPr>
          <p:nvPr>
            <p:ph type="title"/>
          </p:nvPr>
        </p:nvSpPr>
        <p:spPr>
          <a:xfrm>
            <a:off x="677334" y="235027"/>
            <a:ext cx="8596668" cy="470053"/>
          </a:xfrm>
        </p:spPr>
        <p:txBody>
          <a:bodyPr>
            <a:noAutofit/>
          </a:bodyPr>
          <a:lstStyle/>
          <a:p>
            <a:r>
              <a:rPr lang="en-IN" sz="2800" dirty="0"/>
              <a:t>Fund Performance</a:t>
            </a:r>
          </a:p>
        </p:txBody>
      </p:sp>
      <p:pic>
        <p:nvPicPr>
          <p:cNvPr id="5" name="Picture 4">
            <a:extLst>
              <a:ext uri="{FF2B5EF4-FFF2-40B4-BE49-F238E27FC236}">
                <a16:creationId xmlns:a16="http://schemas.microsoft.com/office/drawing/2014/main" id="{35E9D4ED-7355-DCAA-C7DD-F2D901AC2E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5" y="936432"/>
            <a:ext cx="8596667" cy="4307597"/>
          </a:xfrm>
          <a:prstGeom prst="rect">
            <a:avLst/>
          </a:prstGeom>
          <a:ln>
            <a:solidFill>
              <a:schemeClr val="accent1"/>
            </a:solidFill>
          </a:ln>
        </p:spPr>
      </p:pic>
      <p:sp>
        <p:nvSpPr>
          <p:cNvPr id="6" name="TextBox 5">
            <a:extLst>
              <a:ext uri="{FF2B5EF4-FFF2-40B4-BE49-F238E27FC236}">
                <a16:creationId xmlns:a16="http://schemas.microsoft.com/office/drawing/2014/main" id="{1328AD4D-68BF-2A3C-2D4E-E53C9D29017D}"/>
              </a:ext>
            </a:extLst>
          </p:cNvPr>
          <p:cNvSpPr txBox="1"/>
          <p:nvPr/>
        </p:nvSpPr>
        <p:spPr>
          <a:xfrm>
            <a:off x="677334" y="5514977"/>
            <a:ext cx="8596668" cy="1107996"/>
          </a:xfrm>
          <a:prstGeom prst="rect">
            <a:avLst/>
          </a:prstGeom>
          <a:noFill/>
        </p:spPr>
        <p:txBody>
          <a:bodyPr wrap="square" rtlCol="0">
            <a:spAutoFit/>
          </a:bodyPr>
          <a:lstStyle/>
          <a:p>
            <a:r>
              <a:rPr lang="en-IN" b="1" dirty="0">
                <a:solidFill>
                  <a:schemeClr val="accent1"/>
                </a:solidFill>
              </a:rPr>
              <a:t>Key Features</a:t>
            </a:r>
          </a:p>
          <a:p>
            <a:pPr marL="285750" indent="-285750">
              <a:buFont typeface="Arial" panose="020B0604020202020204" pitchFamily="34" charset="0"/>
              <a:buChar char="•"/>
            </a:pPr>
            <a:r>
              <a:rPr lang="en-IN" sz="1600" dirty="0"/>
              <a:t>Compares fund performance using return and risk metrics. </a:t>
            </a:r>
          </a:p>
          <a:p>
            <a:pPr marL="285750" indent="-285750">
              <a:buFont typeface="Arial" panose="020B0604020202020204" pitchFamily="34" charset="0"/>
              <a:buChar char="•"/>
            </a:pPr>
            <a:r>
              <a:rPr lang="en-IN" sz="1600" dirty="0"/>
              <a:t>Highlights top-performing schemes across categories. </a:t>
            </a:r>
          </a:p>
          <a:p>
            <a:pPr marL="285750" indent="-285750">
              <a:buFont typeface="Arial" panose="020B0604020202020204" pitchFamily="34" charset="0"/>
              <a:buChar char="•"/>
            </a:pPr>
            <a:r>
              <a:rPr lang="en-IN" sz="1600" dirty="0"/>
              <a:t>Enables performance comparison through interactive visuals. </a:t>
            </a:r>
          </a:p>
        </p:txBody>
      </p:sp>
    </p:spTree>
    <p:extLst>
      <p:ext uri="{BB962C8B-B14F-4D97-AF65-F5344CB8AC3E}">
        <p14:creationId xmlns:p14="http://schemas.microsoft.com/office/powerpoint/2010/main" val="2246975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38886-2F8A-4C85-E6DE-045124E9B7EC}"/>
              </a:ext>
            </a:extLst>
          </p:cNvPr>
          <p:cNvSpPr>
            <a:spLocks noGrp="1"/>
          </p:cNvSpPr>
          <p:nvPr>
            <p:ph type="title"/>
          </p:nvPr>
        </p:nvSpPr>
        <p:spPr>
          <a:xfrm>
            <a:off x="677334" y="268077"/>
            <a:ext cx="8596668" cy="548561"/>
          </a:xfrm>
        </p:spPr>
        <p:txBody>
          <a:bodyPr>
            <a:normAutofit/>
          </a:bodyPr>
          <a:lstStyle/>
          <a:p>
            <a:r>
              <a:rPr lang="en-IN" sz="2800"/>
              <a:t>Investor Analytics</a:t>
            </a:r>
            <a:endParaRPr lang="en-IN" sz="2800" dirty="0"/>
          </a:p>
        </p:txBody>
      </p:sp>
      <p:pic>
        <p:nvPicPr>
          <p:cNvPr id="5" name="Picture 4">
            <a:extLst>
              <a:ext uri="{FF2B5EF4-FFF2-40B4-BE49-F238E27FC236}">
                <a16:creationId xmlns:a16="http://schemas.microsoft.com/office/drawing/2014/main" id="{5E837501-621C-25C2-69B5-C8C86B138B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900800"/>
            <a:ext cx="8596668" cy="4332212"/>
          </a:xfrm>
          <a:prstGeom prst="rect">
            <a:avLst/>
          </a:prstGeom>
          <a:ln>
            <a:solidFill>
              <a:schemeClr val="accent1"/>
            </a:solidFill>
          </a:ln>
        </p:spPr>
      </p:pic>
      <p:sp>
        <p:nvSpPr>
          <p:cNvPr id="6" name="TextBox 5">
            <a:extLst>
              <a:ext uri="{FF2B5EF4-FFF2-40B4-BE49-F238E27FC236}">
                <a16:creationId xmlns:a16="http://schemas.microsoft.com/office/drawing/2014/main" id="{54F9984F-5927-CAAB-FD73-AE23DCC1E11B}"/>
              </a:ext>
            </a:extLst>
          </p:cNvPr>
          <p:cNvSpPr txBox="1"/>
          <p:nvPr/>
        </p:nvSpPr>
        <p:spPr>
          <a:xfrm>
            <a:off x="677334" y="5403202"/>
            <a:ext cx="8596668" cy="1107996"/>
          </a:xfrm>
          <a:prstGeom prst="rect">
            <a:avLst/>
          </a:prstGeom>
          <a:noFill/>
        </p:spPr>
        <p:txBody>
          <a:bodyPr wrap="square" rtlCol="0">
            <a:spAutoFit/>
          </a:bodyPr>
          <a:lstStyle/>
          <a:p>
            <a:r>
              <a:rPr lang="en-IN" b="1" dirty="0">
                <a:solidFill>
                  <a:schemeClr val="accent1"/>
                </a:solidFill>
              </a:rPr>
              <a:t>Key Features</a:t>
            </a:r>
          </a:p>
          <a:p>
            <a:pPr marL="285750" indent="-285750">
              <a:buFont typeface="Arial" panose="020B0604020202020204" pitchFamily="34" charset="0"/>
              <a:buChar char="•"/>
            </a:pPr>
            <a:r>
              <a:rPr lang="en-IN" sz="1600" dirty="0" err="1"/>
              <a:t>Analyzes</a:t>
            </a:r>
            <a:r>
              <a:rPr lang="en-IN" sz="1600" dirty="0"/>
              <a:t> investor demographics and transaction patterns. </a:t>
            </a:r>
          </a:p>
          <a:p>
            <a:pPr marL="285750" indent="-285750">
              <a:buFont typeface="Arial" panose="020B0604020202020204" pitchFamily="34" charset="0"/>
              <a:buChar char="•"/>
            </a:pPr>
            <a:r>
              <a:rPr lang="en-IN" sz="1600" dirty="0"/>
              <a:t>Displays participation across different regions and age groups. </a:t>
            </a:r>
          </a:p>
          <a:p>
            <a:pPr marL="285750" indent="-285750">
              <a:buFont typeface="Arial" panose="020B0604020202020204" pitchFamily="34" charset="0"/>
              <a:buChar char="•"/>
            </a:pPr>
            <a:r>
              <a:rPr lang="en-IN" sz="1600" dirty="0"/>
              <a:t>Helps understand investor behaviour using interactive filters. </a:t>
            </a:r>
          </a:p>
        </p:txBody>
      </p:sp>
    </p:spTree>
    <p:extLst>
      <p:ext uri="{BB962C8B-B14F-4D97-AF65-F5344CB8AC3E}">
        <p14:creationId xmlns:p14="http://schemas.microsoft.com/office/powerpoint/2010/main" val="68289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1B2F-B35F-A994-4D71-BAA019B3DBA2}"/>
              </a:ext>
            </a:extLst>
          </p:cNvPr>
          <p:cNvSpPr>
            <a:spLocks noGrp="1"/>
          </p:cNvSpPr>
          <p:nvPr>
            <p:ph type="title"/>
          </p:nvPr>
        </p:nvSpPr>
        <p:spPr>
          <a:xfrm>
            <a:off x="677334" y="279093"/>
            <a:ext cx="8596668" cy="537545"/>
          </a:xfrm>
        </p:spPr>
        <p:txBody>
          <a:bodyPr>
            <a:normAutofit/>
          </a:bodyPr>
          <a:lstStyle/>
          <a:p>
            <a:r>
              <a:rPr lang="en-IN" sz="2800" dirty="0"/>
              <a:t>SIP &amp; Market Trends</a:t>
            </a:r>
          </a:p>
        </p:txBody>
      </p:sp>
      <p:pic>
        <p:nvPicPr>
          <p:cNvPr id="5" name="Picture 4">
            <a:extLst>
              <a:ext uri="{FF2B5EF4-FFF2-40B4-BE49-F238E27FC236}">
                <a16:creationId xmlns:a16="http://schemas.microsoft.com/office/drawing/2014/main" id="{4EE91707-10ED-5727-242C-7C06BF27D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3" y="919370"/>
            <a:ext cx="8596667" cy="3619579"/>
          </a:xfrm>
          <a:prstGeom prst="rect">
            <a:avLst/>
          </a:prstGeom>
          <a:ln>
            <a:solidFill>
              <a:schemeClr val="accent1"/>
            </a:solidFill>
          </a:ln>
        </p:spPr>
      </p:pic>
      <p:sp>
        <p:nvSpPr>
          <p:cNvPr id="6" name="TextBox 5">
            <a:extLst>
              <a:ext uri="{FF2B5EF4-FFF2-40B4-BE49-F238E27FC236}">
                <a16:creationId xmlns:a16="http://schemas.microsoft.com/office/drawing/2014/main" id="{C90CBAEE-15B3-AD59-D117-12DF10FC9AE1}"/>
              </a:ext>
            </a:extLst>
          </p:cNvPr>
          <p:cNvSpPr txBox="1"/>
          <p:nvPr/>
        </p:nvSpPr>
        <p:spPr>
          <a:xfrm>
            <a:off x="677333" y="5078777"/>
            <a:ext cx="8596668" cy="1200329"/>
          </a:xfrm>
          <a:prstGeom prst="rect">
            <a:avLst/>
          </a:prstGeom>
          <a:noFill/>
        </p:spPr>
        <p:txBody>
          <a:bodyPr wrap="square" rtlCol="0">
            <a:spAutoFit/>
          </a:bodyPr>
          <a:lstStyle/>
          <a:p>
            <a:r>
              <a:rPr lang="en-IN" b="1" dirty="0">
                <a:solidFill>
                  <a:schemeClr val="accent1"/>
                </a:solidFill>
              </a:rPr>
              <a:t>Key Features</a:t>
            </a:r>
          </a:p>
          <a:p>
            <a:pPr marL="285750" indent="-285750">
              <a:buFont typeface="Arial" panose="020B0604020202020204" pitchFamily="34" charset="0"/>
              <a:buChar char="•"/>
            </a:pPr>
            <a:r>
              <a:rPr lang="en-IN" dirty="0"/>
              <a:t>Visualizes monthly SIP inflows and market activity. </a:t>
            </a:r>
          </a:p>
          <a:p>
            <a:pPr marL="285750" indent="-285750">
              <a:buFont typeface="Arial" panose="020B0604020202020204" pitchFamily="34" charset="0"/>
              <a:buChar char="•"/>
            </a:pPr>
            <a:r>
              <a:rPr lang="en-IN" dirty="0"/>
              <a:t>Tracks industry folio growth over time. </a:t>
            </a:r>
          </a:p>
          <a:p>
            <a:pPr marL="285750" indent="-285750">
              <a:buFont typeface="Arial" panose="020B0604020202020204" pitchFamily="34" charset="0"/>
              <a:buChar char="•"/>
            </a:pPr>
            <a:r>
              <a:rPr lang="en-IN" dirty="0"/>
              <a:t>Supports trend analysis for long-term investment behaviour.</a:t>
            </a:r>
          </a:p>
        </p:txBody>
      </p:sp>
    </p:spTree>
    <p:extLst>
      <p:ext uri="{BB962C8B-B14F-4D97-AF65-F5344CB8AC3E}">
        <p14:creationId xmlns:p14="http://schemas.microsoft.com/office/powerpoint/2010/main" val="3992281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2261-F49A-2AEE-694A-E1E19DB49E56}"/>
              </a:ext>
            </a:extLst>
          </p:cNvPr>
          <p:cNvSpPr>
            <a:spLocks noGrp="1"/>
          </p:cNvSpPr>
          <p:nvPr>
            <p:ph type="title"/>
          </p:nvPr>
        </p:nvSpPr>
        <p:spPr>
          <a:xfrm>
            <a:off x="677334" y="301128"/>
            <a:ext cx="8596668" cy="602255"/>
          </a:xfrm>
        </p:spPr>
        <p:txBody>
          <a:bodyPr>
            <a:normAutofit/>
          </a:bodyPr>
          <a:lstStyle/>
          <a:p>
            <a:r>
              <a:rPr lang="en-IN" sz="2800" dirty="0"/>
              <a:t>Key Findings</a:t>
            </a:r>
          </a:p>
        </p:txBody>
      </p:sp>
      <p:sp>
        <p:nvSpPr>
          <p:cNvPr id="4" name="TextBox 3">
            <a:extLst>
              <a:ext uri="{FF2B5EF4-FFF2-40B4-BE49-F238E27FC236}">
                <a16:creationId xmlns:a16="http://schemas.microsoft.com/office/drawing/2014/main" id="{04A8A970-ED47-E150-B76E-EAEE375FF5E8}"/>
              </a:ext>
            </a:extLst>
          </p:cNvPr>
          <p:cNvSpPr txBox="1"/>
          <p:nvPr/>
        </p:nvSpPr>
        <p:spPr>
          <a:xfrm>
            <a:off x="677334" y="980502"/>
            <a:ext cx="8400565" cy="3693319"/>
          </a:xfrm>
          <a:prstGeom prst="rect">
            <a:avLst/>
          </a:prstGeom>
          <a:noFill/>
          <a:ln>
            <a:solidFill>
              <a:schemeClr val="accent1"/>
            </a:solidFill>
          </a:ln>
        </p:spPr>
        <p:txBody>
          <a:bodyPr wrap="square" rtlCol="0">
            <a:spAutoFit/>
          </a:bodyPr>
          <a:lstStyle/>
          <a:p>
            <a:pPr marL="285750" indent="-285750">
              <a:buFont typeface="Wingdings" panose="05000000000000000000" pitchFamily="2" charset="2"/>
              <a:buChar char="ü"/>
            </a:pPr>
            <a:r>
              <a:rPr lang="en-IN" dirty="0"/>
              <a:t>Successfully developed an end-to-end Mutual Fund Analytics solution using Python, SQLite, and Power BI. </a:t>
            </a:r>
          </a:p>
          <a:p>
            <a:pPr marL="285750" indent="-285750">
              <a:buFont typeface="Wingdings" panose="05000000000000000000" pitchFamily="2" charset="2"/>
              <a:buChar char="ü"/>
            </a:pPr>
            <a:r>
              <a:rPr lang="en-IN" dirty="0"/>
              <a:t>Automated the ETL pipeline for data ingestion, cleaning, validation, and database loading. </a:t>
            </a:r>
          </a:p>
          <a:p>
            <a:pPr marL="285750" indent="-285750">
              <a:buFont typeface="Wingdings" panose="05000000000000000000" pitchFamily="2" charset="2"/>
              <a:buChar char="ü"/>
            </a:pPr>
            <a:r>
              <a:rPr lang="en-IN" dirty="0"/>
              <a:t>Performed Exploratory Data Analysis (EDA) to identify fund growth, SIP trends, and investor participation. </a:t>
            </a:r>
          </a:p>
          <a:p>
            <a:pPr marL="285750" indent="-285750">
              <a:buFont typeface="Wingdings" panose="05000000000000000000" pitchFamily="2" charset="2"/>
              <a:buChar char="ü"/>
            </a:pPr>
            <a:r>
              <a:rPr lang="en-IN" dirty="0"/>
              <a:t>Calculated financial performance metrics such as CAGR, Sharpe Ratio, Alpha, Beta, Maximum Drawdown, </a:t>
            </a:r>
            <a:r>
              <a:rPr lang="en-IN" dirty="0" err="1"/>
              <a:t>VaR</a:t>
            </a:r>
            <a:r>
              <a:rPr lang="en-IN" dirty="0"/>
              <a:t>, and CVaR. </a:t>
            </a:r>
          </a:p>
          <a:p>
            <a:pPr marL="285750" indent="-285750">
              <a:buFont typeface="Wingdings" panose="05000000000000000000" pitchFamily="2" charset="2"/>
              <a:buChar char="ü"/>
            </a:pPr>
            <a:r>
              <a:rPr lang="en-IN" dirty="0"/>
              <a:t>Built an interactive Power BI dashboard with multiple analytical views for fund performance and investor insights. </a:t>
            </a:r>
          </a:p>
          <a:p>
            <a:pPr marL="285750" indent="-285750">
              <a:buFont typeface="Wingdings" panose="05000000000000000000" pitchFamily="2" charset="2"/>
              <a:buChar char="ü"/>
            </a:pPr>
            <a:r>
              <a:rPr lang="en-IN" dirty="0"/>
              <a:t>Implemented a rule-based mutual fund recommendation system to support investment decisions.</a:t>
            </a:r>
          </a:p>
          <a:p>
            <a:endParaRPr lang="en-IN" dirty="0"/>
          </a:p>
        </p:txBody>
      </p:sp>
    </p:spTree>
    <p:extLst>
      <p:ext uri="{BB962C8B-B14F-4D97-AF65-F5344CB8AC3E}">
        <p14:creationId xmlns:p14="http://schemas.microsoft.com/office/powerpoint/2010/main" val="278655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F6E59-9EAA-8282-1F27-28FE2FE8D739}"/>
              </a:ext>
            </a:extLst>
          </p:cNvPr>
          <p:cNvSpPr>
            <a:spLocks noGrp="1"/>
          </p:cNvSpPr>
          <p:nvPr>
            <p:ph type="title"/>
          </p:nvPr>
        </p:nvSpPr>
        <p:spPr>
          <a:xfrm>
            <a:off x="677334" y="323162"/>
            <a:ext cx="8596668" cy="668356"/>
          </a:xfrm>
        </p:spPr>
        <p:txBody>
          <a:bodyPr>
            <a:normAutofit/>
          </a:bodyPr>
          <a:lstStyle/>
          <a:p>
            <a:r>
              <a:rPr lang="en-IN" sz="2800" dirty="0"/>
              <a:t>Conclusion</a:t>
            </a:r>
          </a:p>
        </p:txBody>
      </p:sp>
      <p:sp>
        <p:nvSpPr>
          <p:cNvPr id="3" name="Content Placeholder 2">
            <a:extLst>
              <a:ext uri="{FF2B5EF4-FFF2-40B4-BE49-F238E27FC236}">
                <a16:creationId xmlns:a16="http://schemas.microsoft.com/office/drawing/2014/main" id="{DDD25090-6052-ECC2-0713-3D5AEB9031EC}"/>
              </a:ext>
            </a:extLst>
          </p:cNvPr>
          <p:cNvSpPr>
            <a:spLocks noGrp="1"/>
          </p:cNvSpPr>
          <p:nvPr>
            <p:ph idx="1"/>
          </p:nvPr>
        </p:nvSpPr>
        <p:spPr>
          <a:xfrm>
            <a:off x="677334" y="1224155"/>
            <a:ext cx="8596668" cy="3880773"/>
          </a:xfrm>
        </p:spPr>
        <p:txBody>
          <a:bodyPr/>
          <a:lstStyle/>
          <a:p>
            <a:r>
              <a:rPr lang="en-IN" dirty="0"/>
              <a:t>Successfully transformed raw mutual fund datasets into meaningful business insights. </a:t>
            </a:r>
          </a:p>
          <a:p>
            <a:r>
              <a:rPr lang="en-IN" dirty="0"/>
              <a:t>Integrated ETL, data analytics, financial analysis, and interactive dashboards into a single workflow.</a:t>
            </a:r>
          </a:p>
          <a:p>
            <a:r>
              <a:rPr lang="en-IN" dirty="0"/>
              <a:t> The project demonstrates practical application of data analytics techniques for investment analysis.</a:t>
            </a:r>
          </a:p>
        </p:txBody>
      </p:sp>
    </p:spTree>
    <p:extLst>
      <p:ext uri="{BB962C8B-B14F-4D97-AF65-F5344CB8AC3E}">
        <p14:creationId xmlns:p14="http://schemas.microsoft.com/office/powerpoint/2010/main" val="2731955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7D1D3-FBDD-4880-F939-76F6A5B4155F}"/>
              </a:ext>
            </a:extLst>
          </p:cNvPr>
          <p:cNvSpPr>
            <a:spLocks noGrp="1"/>
          </p:cNvSpPr>
          <p:nvPr>
            <p:ph type="title"/>
          </p:nvPr>
        </p:nvSpPr>
        <p:spPr>
          <a:xfrm>
            <a:off x="677334" y="411296"/>
            <a:ext cx="8596668" cy="734458"/>
          </a:xfrm>
        </p:spPr>
        <p:txBody>
          <a:bodyPr>
            <a:normAutofit/>
          </a:bodyPr>
          <a:lstStyle/>
          <a:p>
            <a:r>
              <a:rPr lang="en-IN" sz="2800" dirty="0"/>
              <a:t>Thank You</a:t>
            </a:r>
          </a:p>
        </p:txBody>
      </p:sp>
      <p:sp>
        <p:nvSpPr>
          <p:cNvPr id="3" name="Content Placeholder 2">
            <a:extLst>
              <a:ext uri="{FF2B5EF4-FFF2-40B4-BE49-F238E27FC236}">
                <a16:creationId xmlns:a16="http://schemas.microsoft.com/office/drawing/2014/main" id="{6412CE9B-9693-2BA6-EF6F-AA7DF2FC4227}"/>
              </a:ext>
            </a:extLst>
          </p:cNvPr>
          <p:cNvSpPr>
            <a:spLocks noGrp="1"/>
          </p:cNvSpPr>
          <p:nvPr>
            <p:ph idx="1"/>
          </p:nvPr>
        </p:nvSpPr>
        <p:spPr>
          <a:xfrm>
            <a:off x="677334" y="1598729"/>
            <a:ext cx="8596668" cy="4339363"/>
          </a:xfrm>
        </p:spPr>
        <p:txBody>
          <a:bodyPr>
            <a:normAutofit fontScale="92500" lnSpcReduction="20000"/>
          </a:bodyPr>
          <a:lstStyle/>
          <a:p>
            <a:pPr marL="0" indent="0" algn="ctr">
              <a:buNone/>
            </a:pPr>
            <a:r>
              <a:rPr lang="en-US" sz="2400" b="1" dirty="0"/>
              <a:t>Thank You!</a:t>
            </a:r>
          </a:p>
          <a:p>
            <a:pPr marL="0" indent="0">
              <a:buNone/>
            </a:pPr>
            <a:endParaRPr lang="en-US" b="1" dirty="0"/>
          </a:p>
          <a:p>
            <a:pPr marL="0" indent="0" algn="ctr">
              <a:buNone/>
            </a:pPr>
            <a:r>
              <a:rPr lang="en-US" sz="2200" b="1" dirty="0"/>
              <a:t>Questions &amp; Discussion</a:t>
            </a:r>
          </a:p>
          <a:p>
            <a:pPr marL="0" indent="0" algn="ctr">
              <a:buNone/>
            </a:pPr>
            <a:endParaRPr lang="en-US" sz="2200" b="1" dirty="0"/>
          </a:p>
          <a:p>
            <a:pPr marL="0" indent="0" algn="ctr">
              <a:buNone/>
            </a:pPr>
            <a:r>
              <a:rPr lang="en-US" sz="2200" b="1" dirty="0"/>
              <a:t>Presented By</a:t>
            </a:r>
          </a:p>
          <a:p>
            <a:pPr marL="0" indent="0" algn="ctr">
              <a:buNone/>
            </a:pPr>
            <a:endParaRPr lang="en-US" sz="2200" b="1" dirty="0"/>
          </a:p>
          <a:p>
            <a:pPr marL="0" indent="0" algn="ctr">
              <a:buNone/>
            </a:pPr>
            <a:r>
              <a:rPr lang="en-US" sz="2200" b="1" dirty="0"/>
              <a:t>Pranav Shinde</a:t>
            </a:r>
          </a:p>
          <a:p>
            <a:pPr marL="0" indent="0" algn="ctr">
              <a:buNone/>
            </a:pPr>
            <a:endParaRPr lang="en-US" sz="2200" b="1" dirty="0"/>
          </a:p>
          <a:p>
            <a:pPr marL="0" indent="0" algn="ctr">
              <a:buNone/>
            </a:pPr>
            <a:r>
              <a:rPr lang="en-US" sz="2200" b="1" dirty="0"/>
              <a:t>B.Sc. Information Technology</a:t>
            </a:r>
          </a:p>
          <a:p>
            <a:pPr marL="0" indent="0" algn="ctr">
              <a:buNone/>
            </a:pPr>
            <a:endParaRPr lang="en-US" sz="2200" b="1" dirty="0"/>
          </a:p>
          <a:p>
            <a:pPr marL="0" indent="0" algn="ctr">
              <a:buNone/>
            </a:pPr>
            <a:r>
              <a:rPr lang="en-US" sz="2200" b="1" dirty="0"/>
              <a:t>Mutual Fund Analytics Capstone Project</a:t>
            </a:r>
            <a:endParaRPr lang="en-IN" sz="2200" b="1" dirty="0"/>
          </a:p>
        </p:txBody>
      </p:sp>
    </p:spTree>
    <p:extLst>
      <p:ext uri="{BB962C8B-B14F-4D97-AF65-F5344CB8AC3E}">
        <p14:creationId xmlns:p14="http://schemas.microsoft.com/office/powerpoint/2010/main" val="30569180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4384</TotalTime>
  <Words>945</Words>
  <Application>Microsoft Office PowerPoint</Application>
  <PresentationFormat>Widescreen</PresentationFormat>
  <Paragraphs>155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Trebuchet MS</vt:lpstr>
      <vt:lpstr>Wingdings</vt:lpstr>
      <vt:lpstr>Wingdings 3</vt:lpstr>
      <vt:lpstr>Facet</vt:lpstr>
      <vt:lpstr>Mutual Fund Analytics Capstone Project</vt:lpstr>
      <vt:lpstr>Project Overview</vt:lpstr>
      <vt:lpstr>Project Objectives</vt:lpstr>
      <vt:lpstr>Dataset Overview</vt:lpstr>
      <vt:lpstr>ETL Pipeline</vt:lpstr>
      <vt:lpstr>Exploratory Data Analysis (EDA)</vt:lpstr>
      <vt:lpstr>Category-wise Net Inflow Heatmap</vt:lpstr>
      <vt:lpstr>Monthly SIP Inflow Trend</vt:lpstr>
      <vt:lpstr>Industry Folio Growth</vt:lpstr>
      <vt:lpstr>Performance Analytics</vt:lpstr>
      <vt:lpstr>Advanced Analytics</vt:lpstr>
      <vt:lpstr>Industry Overview</vt:lpstr>
      <vt:lpstr>Fund Performance</vt:lpstr>
      <vt:lpstr>Investor Analytics</vt:lpstr>
      <vt:lpstr>SIP &amp; Market Trends</vt:lpstr>
      <vt:lpstr>Key Findings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 Shinde</dc:creator>
  <cp:lastModifiedBy>Pranav Shinde</cp:lastModifiedBy>
  <cp:revision>2</cp:revision>
  <dcterms:created xsi:type="dcterms:W3CDTF">2026-07-19T13:49:22Z</dcterms:created>
  <dcterms:modified xsi:type="dcterms:W3CDTF">2026-07-22T14:53:49Z</dcterms:modified>
</cp:coreProperties>
</file>